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5" r:id="rId9"/>
    <p:sldId id="266" r:id="rId10"/>
    <p:sldId id="267" r:id="rId11"/>
    <p:sldId id="269"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3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483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txBody>
          <a:bodyPr/>
          <a:lstStyle/>
          <a:p>
            <a:endParaRPr lang="en-GH"/>
          </a:p>
        </p:txBody>
      </p:sp>
      <p:sp>
        <p:nvSpPr>
          <p:cNvPr id="3" name="Shape 1"/>
          <p:cNvSpPr/>
          <p:nvPr/>
        </p:nvSpPr>
        <p:spPr>
          <a:xfrm>
            <a:off x="7132320" y="-914400"/>
            <a:ext cx="2926080" cy="2926080"/>
          </a:xfrm>
          <a:prstGeom prst="ellipse">
            <a:avLst/>
          </a:prstGeom>
          <a:solidFill>
            <a:srgbClr val="0E7C86">
              <a:alpha val="18000"/>
            </a:srgbClr>
          </a:solidFill>
          <a:ln w="12700">
            <a:solidFill>
              <a:srgbClr val="0E7C86">
                <a:alpha val="40000"/>
              </a:srgbClr>
            </a:solidFill>
            <a:prstDash val="solid"/>
          </a:ln>
        </p:spPr>
        <p:txBody>
          <a:bodyPr/>
          <a:lstStyle/>
          <a:p>
            <a:endParaRPr lang="en-GH"/>
          </a:p>
        </p:txBody>
      </p:sp>
      <p:sp>
        <p:nvSpPr>
          <p:cNvPr id="4" name="Shape 2"/>
          <p:cNvSpPr/>
          <p:nvPr/>
        </p:nvSpPr>
        <p:spPr>
          <a:xfrm>
            <a:off x="7680960" y="-274320"/>
            <a:ext cx="1828800" cy="1828800"/>
          </a:xfrm>
          <a:prstGeom prst="ellipse">
            <a:avLst/>
          </a:prstGeom>
          <a:solidFill>
            <a:srgbClr val="F4A261">
              <a:alpha val="12000"/>
            </a:srgbClr>
          </a:solidFill>
          <a:ln w="12700">
            <a:solidFill>
              <a:srgbClr val="F4A261">
                <a:alpha val="30000"/>
              </a:srgbClr>
            </a:solidFill>
            <a:prstDash val="solid"/>
          </a:ln>
        </p:spPr>
        <p:txBody>
          <a:bodyPr/>
          <a:lstStyle/>
          <a:p>
            <a:endParaRPr lang="en-GH"/>
          </a:p>
        </p:txBody>
      </p:sp>
      <p:sp>
        <p:nvSpPr>
          <p:cNvPr id="5" name="Text 3"/>
          <p:cNvSpPr/>
          <p:nvPr/>
        </p:nvSpPr>
        <p:spPr>
          <a:xfrm>
            <a:off x="347472" y="457200"/>
            <a:ext cx="8229600" cy="365760"/>
          </a:xfrm>
          <a:prstGeom prst="rect">
            <a:avLst/>
          </a:prstGeom>
          <a:noFill/>
          <a:ln/>
        </p:spPr>
        <p:txBody>
          <a:bodyPr wrap="square" rtlCol="0" anchor="ctr"/>
          <a:lstStyle/>
          <a:p>
            <a:pPr marL="0" indent="0">
              <a:buNone/>
            </a:pPr>
            <a:r>
              <a:rPr lang="en-US" sz="1100" kern="0" spc="200" dirty="0">
                <a:solidFill>
                  <a:srgbClr val="8EAFC0"/>
                </a:solidFill>
                <a:latin typeface="Calibri" pitchFamily="34" charset="0"/>
                <a:ea typeface="Calibri" pitchFamily="34" charset="-122"/>
                <a:cs typeface="Calibri" pitchFamily="34" charset="-120"/>
              </a:rPr>
              <a:t>DCIT 207 • Computer Organization &amp; Architecture</a:t>
            </a:r>
            <a:endParaRPr lang="en-US" sz="1100" dirty="0"/>
          </a:p>
        </p:txBody>
      </p:sp>
      <p:sp>
        <p:nvSpPr>
          <p:cNvPr id="6" name="Text 4"/>
          <p:cNvSpPr/>
          <p:nvPr/>
        </p:nvSpPr>
        <p:spPr>
          <a:xfrm>
            <a:off x="347472" y="100584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Session 2 Group Work</a:t>
            </a:r>
            <a:endParaRPr lang="en-US" sz="4400" dirty="0"/>
          </a:p>
        </p:txBody>
      </p:sp>
      <p:sp>
        <p:nvSpPr>
          <p:cNvPr id="7" name="Text 5"/>
          <p:cNvSpPr/>
          <p:nvPr/>
        </p:nvSpPr>
        <p:spPr>
          <a:xfrm>
            <a:off x="347472" y="1828800"/>
            <a:ext cx="6858000" cy="640080"/>
          </a:xfrm>
          <a:prstGeom prst="rect">
            <a:avLst/>
          </a:prstGeom>
          <a:noFill/>
          <a:ln/>
        </p:spPr>
        <p:txBody>
          <a:bodyPr wrap="square" lIns="0" tIns="0" rIns="0" bIns="0" rtlCol="0" anchor="ctr"/>
          <a:lstStyle/>
          <a:p>
            <a:pPr marL="0" indent="0">
              <a:buNone/>
            </a:pPr>
            <a:r>
              <a:rPr lang="en-US" sz="3000" i="1" dirty="0">
                <a:solidFill>
                  <a:srgbClr val="F4A261"/>
                </a:solidFill>
                <a:latin typeface="Calibri" pitchFamily="34" charset="0"/>
                <a:ea typeface="Calibri" pitchFamily="34" charset="-122"/>
                <a:cs typeface="Calibri" pitchFamily="34" charset="-120"/>
              </a:rPr>
              <a:t>Performance Concepts</a:t>
            </a:r>
            <a:endParaRPr lang="en-US" sz="3000" dirty="0"/>
          </a:p>
        </p:txBody>
      </p:sp>
      <p:sp>
        <p:nvSpPr>
          <p:cNvPr id="8" name="Shape 6"/>
          <p:cNvSpPr/>
          <p:nvPr/>
        </p:nvSpPr>
        <p:spPr>
          <a:xfrm>
            <a:off x="347472" y="2578608"/>
            <a:ext cx="3657600" cy="36576"/>
          </a:xfrm>
          <a:prstGeom prst="rect">
            <a:avLst/>
          </a:prstGeom>
          <a:solidFill>
            <a:srgbClr val="0E7C86"/>
          </a:solidFill>
          <a:ln w="12700">
            <a:solidFill>
              <a:srgbClr val="0E7C86"/>
            </a:solidFill>
            <a:prstDash val="solid"/>
          </a:ln>
        </p:spPr>
        <p:txBody>
          <a:bodyPr/>
          <a:lstStyle/>
          <a:p>
            <a:endParaRPr lang="en-GH"/>
          </a:p>
        </p:txBody>
      </p:sp>
      <p:sp>
        <p:nvSpPr>
          <p:cNvPr id="9" name="Shape 7"/>
          <p:cNvSpPr/>
          <p:nvPr/>
        </p:nvSpPr>
        <p:spPr>
          <a:xfrm>
            <a:off x="347472" y="2788920"/>
            <a:ext cx="5029200" cy="1783080"/>
          </a:xfrm>
          <a:prstGeom prst="rect">
            <a:avLst/>
          </a:prstGeom>
          <a:solidFill>
            <a:srgbClr val="0E7C86">
              <a:alpha val="12000"/>
            </a:srgbClr>
          </a:solidFill>
          <a:ln w="12700">
            <a:solidFill>
              <a:srgbClr val="0E7C86"/>
            </a:solidFill>
            <a:prstDash val="solid"/>
          </a:ln>
        </p:spPr>
        <p:txBody>
          <a:bodyPr/>
          <a:lstStyle/>
          <a:p>
            <a:endParaRPr lang="en-GH"/>
          </a:p>
        </p:txBody>
      </p:sp>
      <p:sp>
        <p:nvSpPr>
          <p:cNvPr id="10" name="Text 8"/>
          <p:cNvSpPr/>
          <p:nvPr/>
        </p:nvSpPr>
        <p:spPr>
          <a:xfrm>
            <a:off x="502920" y="2852928"/>
            <a:ext cx="4663440" cy="1627632"/>
          </a:xfrm>
          <a:prstGeom prst="rect">
            <a:avLst/>
          </a:prstGeom>
          <a:noFill/>
          <a:ln/>
        </p:spPr>
        <p:txBody>
          <a:bodyPr wrap="square" lIns="0" tIns="0" rIns="0" bIns="0" rtlCol="0" anchor="t"/>
          <a:lstStyle/>
          <a:p>
            <a:pPr marL="0" indent="0">
              <a:buNone/>
            </a:pPr>
            <a:r>
              <a:rPr lang="en-US" sz="1300" b="1" dirty="0">
                <a:solidFill>
                  <a:srgbClr val="F4A261"/>
                </a:solidFill>
              </a:rPr>
              <a:t>📋  Instructions</a:t>
            </a:r>
            <a:r>
              <a:rPr lang="en-US" sz="1200" dirty="0">
                <a:solidFill>
                  <a:srgbClr val="FFFFFF"/>
                </a:solidFill>
              </a:rPr>
              <a:t>
• Each group tackles ALL tasks collaboratively
• Present findings to the class (10 min max)
• Every member must be able to explain any answer</a:t>
            </a:r>
            <a:endParaRPr lang="en-US" sz="1300" dirty="0"/>
          </a:p>
        </p:txBody>
      </p:sp>
      <p:sp>
        <p:nvSpPr>
          <p:cNvPr id="11" name="Shape 9"/>
          <p:cNvSpPr/>
          <p:nvPr/>
        </p:nvSpPr>
        <p:spPr>
          <a:xfrm>
            <a:off x="5760720" y="2788920"/>
            <a:ext cx="3108960" cy="502920"/>
          </a:xfrm>
          <a:prstGeom prst="rect">
            <a:avLst/>
          </a:prstGeom>
          <a:solidFill>
            <a:srgbClr val="085D64"/>
          </a:solidFill>
          <a:ln w="12700">
            <a:solidFill>
              <a:srgbClr val="0E7C86"/>
            </a:solidFill>
            <a:prstDash val="solid"/>
          </a:ln>
        </p:spPr>
        <p:txBody>
          <a:bodyPr/>
          <a:lstStyle/>
          <a:p>
            <a:endParaRPr lang="en-GH"/>
          </a:p>
        </p:txBody>
      </p:sp>
      <p:sp>
        <p:nvSpPr>
          <p:cNvPr id="12" name="Text 10"/>
          <p:cNvSpPr/>
          <p:nvPr/>
        </p:nvSpPr>
        <p:spPr>
          <a:xfrm>
            <a:off x="5870448" y="2862072"/>
            <a:ext cx="1005840" cy="320040"/>
          </a:xfrm>
          <a:prstGeom prst="rect">
            <a:avLst/>
          </a:prstGeom>
          <a:noFill/>
          <a:ln/>
        </p:spPr>
        <p:txBody>
          <a:bodyPr wrap="square" lIns="0" tIns="0" rIns="0" bIns="0" rtlCol="0" anchor="ctr"/>
          <a:lstStyle/>
          <a:p>
            <a:pPr marL="0" indent="0">
              <a:buNone/>
            </a:pPr>
            <a:r>
              <a:rPr lang="en-US" sz="1100" dirty="0">
                <a:solidFill>
                  <a:srgbClr val="8EAFC0"/>
                </a:solidFill>
              </a:rPr>
              <a:t>Groups:  </a:t>
            </a:r>
            <a:endParaRPr lang="en-US" sz="1100" dirty="0"/>
          </a:p>
        </p:txBody>
      </p:sp>
      <p:sp>
        <p:nvSpPr>
          <p:cNvPr id="13" name="Text 11"/>
          <p:cNvSpPr/>
          <p:nvPr/>
        </p:nvSpPr>
        <p:spPr>
          <a:xfrm>
            <a:off x="6858000" y="2862072"/>
            <a:ext cx="1920240" cy="320040"/>
          </a:xfrm>
          <a:prstGeom prst="rect">
            <a:avLst/>
          </a:prstGeom>
          <a:noFill/>
          <a:ln/>
        </p:spPr>
        <p:txBody>
          <a:bodyPr wrap="square" lIns="0" tIns="0" rIns="0" bIns="0" rtlCol="0" anchor="ctr"/>
          <a:lstStyle/>
          <a:p>
            <a:pPr marL="0" indent="0">
              <a:buNone/>
            </a:pPr>
            <a:r>
              <a:rPr lang="en-US" sz="1200" b="1" dirty="0">
                <a:solidFill>
                  <a:srgbClr val="F4A261"/>
                </a:solidFill>
              </a:rPr>
              <a:t>4–5 students</a:t>
            </a:r>
            <a:endParaRPr lang="en-US" sz="1200" dirty="0"/>
          </a:p>
        </p:txBody>
      </p:sp>
      <p:sp>
        <p:nvSpPr>
          <p:cNvPr id="14" name="Shape 12"/>
          <p:cNvSpPr/>
          <p:nvPr/>
        </p:nvSpPr>
        <p:spPr>
          <a:xfrm>
            <a:off x="5760720" y="3383280"/>
            <a:ext cx="3108960" cy="502920"/>
          </a:xfrm>
          <a:prstGeom prst="rect">
            <a:avLst/>
          </a:prstGeom>
          <a:solidFill>
            <a:srgbClr val="085D64"/>
          </a:solidFill>
          <a:ln w="12700">
            <a:solidFill>
              <a:srgbClr val="0E7C86"/>
            </a:solidFill>
            <a:prstDash val="solid"/>
          </a:ln>
        </p:spPr>
        <p:txBody>
          <a:bodyPr/>
          <a:lstStyle/>
          <a:p>
            <a:endParaRPr lang="en-GH"/>
          </a:p>
        </p:txBody>
      </p:sp>
      <p:sp>
        <p:nvSpPr>
          <p:cNvPr id="15" name="Text 13"/>
          <p:cNvSpPr/>
          <p:nvPr/>
        </p:nvSpPr>
        <p:spPr>
          <a:xfrm>
            <a:off x="5870448" y="3456432"/>
            <a:ext cx="1005840" cy="320040"/>
          </a:xfrm>
          <a:prstGeom prst="rect">
            <a:avLst/>
          </a:prstGeom>
          <a:noFill/>
          <a:ln/>
        </p:spPr>
        <p:txBody>
          <a:bodyPr wrap="square" lIns="0" tIns="0" rIns="0" bIns="0" rtlCol="0" anchor="ctr"/>
          <a:lstStyle/>
          <a:p>
            <a:pPr marL="0" indent="0">
              <a:buNone/>
            </a:pPr>
            <a:r>
              <a:rPr lang="en-US" sz="1100" dirty="0">
                <a:solidFill>
                  <a:srgbClr val="8EAFC0"/>
                </a:solidFill>
              </a:rPr>
              <a:t>Time:  </a:t>
            </a:r>
            <a:endParaRPr lang="en-US" sz="1100" dirty="0"/>
          </a:p>
        </p:txBody>
      </p:sp>
      <p:sp>
        <p:nvSpPr>
          <p:cNvPr id="16" name="Text 14"/>
          <p:cNvSpPr/>
          <p:nvPr/>
        </p:nvSpPr>
        <p:spPr>
          <a:xfrm>
            <a:off x="6858000" y="3456432"/>
            <a:ext cx="1920240" cy="320040"/>
          </a:xfrm>
          <a:prstGeom prst="rect">
            <a:avLst/>
          </a:prstGeom>
          <a:noFill/>
          <a:ln/>
        </p:spPr>
        <p:txBody>
          <a:bodyPr wrap="square" lIns="0" tIns="0" rIns="0" bIns="0" rtlCol="0" anchor="ctr"/>
          <a:lstStyle/>
          <a:p>
            <a:pPr marL="0" indent="0">
              <a:buNone/>
            </a:pPr>
            <a:r>
              <a:rPr lang="en-US" sz="1200" b="1" dirty="0">
                <a:solidFill>
                  <a:srgbClr val="F4A261"/>
                </a:solidFill>
              </a:rPr>
              <a:t>45 minutes</a:t>
            </a:r>
            <a:endParaRPr lang="en-US" sz="1200" dirty="0"/>
          </a:p>
        </p:txBody>
      </p:sp>
      <p:sp>
        <p:nvSpPr>
          <p:cNvPr id="17" name="Shape 15"/>
          <p:cNvSpPr/>
          <p:nvPr/>
        </p:nvSpPr>
        <p:spPr>
          <a:xfrm>
            <a:off x="5760720" y="3977640"/>
            <a:ext cx="3108960" cy="502920"/>
          </a:xfrm>
          <a:prstGeom prst="rect">
            <a:avLst/>
          </a:prstGeom>
          <a:solidFill>
            <a:srgbClr val="085D64"/>
          </a:solidFill>
          <a:ln w="12700">
            <a:solidFill>
              <a:srgbClr val="0E7C86"/>
            </a:solidFill>
            <a:prstDash val="solid"/>
          </a:ln>
        </p:spPr>
        <p:txBody>
          <a:bodyPr/>
          <a:lstStyle/>
          <a:p>
            <a:endParaRPr lang="en-GH"/>
          </a:p>
        </p:txBody>
      </p:sp>
      <p:sp>
        <p:nvSpPr>
          <p:cNvPr id="18" name="Text 16"/>
          <p:cNvSpPr/>
          <p:nvPr/>
        </p:nvSpPr>
        <p:spPr>
          <a:xfrm>
            <a:off x="5870448" y="4050792"/>
            <a:ext cx="1005840" cy="320040"/>
          </a:xfrm>
          <a:prstGeom prst="rect">
            <a:avLst/>
          </a:prstGeom>
          <a:noFill/>
          <a:ln/>
        </p:spPr>
        <p:txBody>
          <a:bodyPr wrap="square" lIns="0" tIns="0" rIns="0" bIns="0" rtlCol="0" anchor="ctr"/>
          <a:lstStyle/>
          <a:p>
            <a:pPr marL="0" indent="0">
              <a:buNone/>
            </a:pPr>
            <a:r>
              <a:rPr lang="en-US" sz="1100" dirty="0">
                <a:solidFill>
                  <a:srgbClr val="8EAFC0"/>
                </a:solidFill>
              </a:rPr>
              <a:t>Tasks:  </a:t>
            </a:r>
            <a:endParaRPr lang="en-US" sz="1100" dirty="0"/>
          </a:p>
        </p:txBody>
      </p:sp>
      <p:sp>
        <p:nvSpPr>
          <p:cNvPr id="19" name="Text 17"/>
          <p:cNvSpPr/>
          <p:nvPr/>
        </p:nvSpPr>
        <p:spPr>
          <a:xfrm>
            <a:off x="6858000" y="4050792"/>
            <a:ext cx="1920240" cy="320040"/>
          </a:xfrm>
          <a:prstGeom prst="rect">
            <a:avLst/>
          </a:prstGeom>
          <a:noFill/>
          <a:ln/>
        </p:spPr>
        <p:txBody>
          <a:bodyPr wrap="square" lIns="0" tIns="0" rIns="0" bIns="0" rtlCol="0" anchor="ctr"/>
          <a:lstStyle/>
          <a:p>
            <a:pPr marL="0" indent="0">
              <a:buNone/>
            </a:pPr>
            <a:r>
              <a:rPr lang="en-US" sz="1200" b="1" dirty="0">
                <a:solidFill>
                  <a:srgbClr val="F4A261"/>
                </a:solidFill>
              </a:rPr>
              <a:t>4 Challenges</a:t>
            </a:r>
            <a:endParaRPr lang="en-US" sz="1200" dirty="0"/>
          </a:p>
        </p:txBody>
      </p:sp>
      <p:sp>
        <p:nvSpPr>
          <p:cNvPr id="20" name="Text 18"/>
          <p:cNvSpPr/>
          <p:nvPr/>
        </p:nvSpPr>
        <p:spPr>
          <a:xfrm>
            <a:off x="347472" y="4754880"/>
            <a:ext cx="8412480" cy="274320"/>
          </a:xfrm>
          <a:prstGeom prst="rect">
            <a:avLst/>
          </a:prstGeom>
          <a:noFill/>
          <a:ln/>
        </p:spPr>
        <p:txBody>
          <a:bodyPr wrap="square" rtlCol="0" anchor="ctr"/>
          <a:lstStyle/>
          <a:p>
            <a:pPr marL="0" indent="0" algn="r">
              <a:buNone/>
            </a:pPr>
            <a:r>
              <a:rPr lang="en-US" sz="1000" dirty="0">
                <a:solidFill>
                  <a:srgbClr val="8EAFC0"/>
                </a:solidFill>
                <a:latin typeface="Calibri" pitchFamily="34" charset="0"/>
                <a:ea typeface="Calibri" pitchFamily="34" charset="-122"/>
                <a:cs typeface="Calibri" pitchFamily="34" charset="-120"/>
              </a:rPr>
              <a:t>Dr. Ben-Bright Benuwa  •  UEW  •  2024/2025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0E7C86"/>
          </a:solidFill>
          <a:ln w="12700">
            <a:solidFill>
              <a:srgbClr val="0E7C86"/>
            </a:solidFill>
            <a:prstDash val="solid"/>
          </a:ln>
        </p:spPr>
        <p:txBody>
          <a:bodyPr/>
          <a:lstStyle/>
          <a:p>
            <a:endParaRPr lang="en-GH"/>
          </a:p>
        </p:txBody>
      </p:sp>
      <p:sp>
        <p:nvSpPr>
          <p:cNvPr id="3" name="Text 1"/>
          <p:cNvSpPr/>
          <p:nvPr/>
        </p:nvSpPr>
        <p:spPr>
          <a:xfrm>
            <a:off x="365760" y="164592"/>
            <a:ext cx="8229600" cy="384048"/>
          </a:xfrm>
          <a:prstGeom prst="rect">
            <a:avLst/>
          </a:prstGeom>
          <a:noFill/>
          <a:ln/>
        </p:spPr>
        <p:txBody>
          <a:bodyPr wrap="square" lIns="0" tIns="0" rIns="0" bIns="0" rtlCol="0" anchor="ctr"/>
          <a:lstStyle/>
          <a:p>
            <a:pPr marL="0" indent="0">
              <a:buNone/>
            </a:pPr>
            <a:r>
              <a:rPr lang="en-US" sz="1300" b="1" kern="0" spc="500" dirty="0">
                <a:solidFill>
                  <a:srgbClr val="0D1B2A"/>
                </a:solidFill>
              </a:rPr>
              <a:t>TASK 1</a:t>
            </a:r>
            <a:endParaRPr lang="en-US" sz="1300" dirty="0"/>
          </a:p>
        </p:txBody>
      </p:sp>
      <p:sp>
        <p:nvSpPr>
          <p:cNvPr id="4" name="Text 2"/>
          <p:cNvSpPr/>
          <p:nvPr/>
        </p:nvSpPr>
        <p:spPr>
          <a:xfrm>
            <a:off x="365760" y="512064"/>
            <a:ext cx="8321040" cy="658368"/>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Microprocessor Speed &amp; Techniques</a:t>
            </a:r>
            <a:endParaRPr lang="en-US" sz="3000" dirty="0"/>
          </a:p>
        </p:txBody>
      </p:sp>
      <p:sp>
        <p:nvSpPr>
          <p:cNvPr id="5" name="Text 3"/>
          <p:cNvSpPr/>
          <p:nvPr/>
        </p:nvSpPr>
        <p:spPr>
          <a:xfrm>
            <a:off x="365760" y="1463040"/>
            <a:ext cx="8412480" cy="822960"/>
          </a:xfrm>
          <a:prstGeom prst="rect">
            <a:avLst/>
          </a:prstGeom>
          <a:noFill/>
          <a:ln/>
        </p:spPr>
        <p:txBody>
          <a:bodyPr wrap="square" rtlCol="0" anchor="ctr"/>
          <a:lstStyle/>
          <a:p>
            <a:pPr marL="0" indent="0">
              <a:buNone/>
            </a:pPr>
            <a:r>
              <a:rPr lang="en-US" sz="1600" i="1" dirty="0">
                <a:solidFill>
                  <a:srgbClr val="E8F4F8"/>
                </a:solidFill>
                <a:latin typeface="Calibri" pitchFamily="34" charset="0"/>
                <a:ea typeface="Calibri" pitchFamily="34" charset="-122"/>
                <a:cs typeface="Calibri" pitchFamily="34" charset="-120"/>
              </a:rPr>
              <a:t>Exploring how modern processors squeeze maximum performance using clever design tricks.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7C86"/>
          </a:solidFill>
          <a:ln w="12700">
            <a:solidFill>
              <a:srgbClr val="0E7C86"/>
            </a:solidFill>
            <a:prstDash val="solid"/>
          </a:ln>
        </p:spPr>
        <p:txBody>
          <a:bodyPr/>
          <a:lstStyle/>
          <a:p>
            <a:endParaRPr lang="en-GH"/>
          </a:p>
        </p:txBody>
      </p:sp>
      <p:sp>
        <p:nvSpPr>
          <p:cNvPr id="3" name="Text 1"/>
          <p:cNvSpPr/>
          <p:nvPr/>
        </p:nvSpPr>
        <p:spPr>
          <a:xfrm>
            <a:off x="274320" y="128016"/>
            <a:ext cx="8412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TASK 1  •  Microprocessor Speed Techniques</a:t>
            </a:r>
            <a:endParaRPr lang="en-US" sz="1400" dirty="0"/>
          </a:p>
        </p:txBody>
      </p:sp>
      <p:sp>
        <p:nvSpPr>
          <p:cNvPr id="4" name="Shape 2"/>
          <p:cNvSpPr/>
          <p:nvPr/>
        </p:nvSpPr>
        <p:spPr>
          <a:xfrm>
            <a:off x="228600" y="804672"/>
            <a:ext cx="8686800" cy="845820"/>
          </a:xfrm>
          <a:prstGeom prst="rect">
            <a:avLst/>
          </a:prstGeom>
          <a:solidFill>
            <a:srgbClr val="FFFFFF"/>
          </a:solidFill>
          <a:ln w="9525">
            <a:solidFill>
              <a:srgbClr val="0E7C86"/>
            </a:solidFill>
            <a:prstDash val="solid"/>
          </a:ln>
          <a:effectLst>
            <a:outerShdw blurRad="101600" dist="38100" dir="8100000" algn="bl" rotWithShape="0">
              <a:srgbClr val="000000">
                <a:alpha val="18000"/>
              </a:srgbClr>
            </a:outerShdw>
          </a:effectLst>
        </p:spPr>
        <p:txBody>
          <a:bodyPr/>
          <a:lstStyle/>
          <a:p>
            <a:endParaRPr lang="en-GH"/>
          </a:p>
        </p:txBody>
      </p:sp>
      <p:sp>
        <p:nvSpPr>
          <p:cNvPr id="5" name="Shape 3"/>
          <p:cNvSpPr/>
          <p:nvPr/>
        </p:nvSpPr>
        <p:spPr>
          <a:xfrm>
            <a:off x="292608" y="1026414"/>
            <a:ext cx="402336" cy="402336"/>
          </a:xfrm>
          <a:prstGeom prst="ellipse">
            <a:avLst/>
          </a:prstGeom>
          <a:solidFill>
            <a:srgbClr val="0E7C86"/>
          </a:solidFill>
          <a:ln w="12700">
            <a:solidFill>
              <a:srgbClr val="0E7C86"/>
            </a:solidFill>
            <a:prstDash val="solid"/>
          </a:ln>
        </p:spPr>
        <p:txBody>
          <a:bodyPr/>
          <a:lstStyle/>
          <a:p>
            <a:endParaRPr lang="en-GH"/>
          </a:p>
        </p:txBody>
      </p:sp>
      <p:sp>
        <p:nvSpPr>
          <p:cNvPr id="6" name="Text 4"/>
          <p:cNvSpPr/>
          <p:nvPr/>
        </p:nvSpPr>
        <p:spPr>
          <a:xfrm>
            <a:off x="292608" y="102641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786384" y="85953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Name and explain any THREE techniques used by modern processors to increase instruction throughput. Give a real-world analogy for at least one of them.</a:t>
            </a:r>
            <a:endParaRPr lang="en-US" sz="1250" dirty="0"/>
          </a:p>
        </p:txBody>
      </p:sp>
      <p:sp>
        <p:nvSpPr>
          <p:cNvPr id="8" name="Shape 6"/>
          <p:cNvSpPr/>
          <p:nvPr/>
        </p:nvSpPr>
        <p:spPr>
          <a:xfrm>
            <a:off x="228600" y="1741932"/>
            <a:ext cx="8686800" cy="845820"/>
          </a:xfrm>
          <a:prstGeom prst="rect">
            <a:avLst/>
          </a:prstGeom>
          <a:solidFill>
            <a:srgbClr val="FFFFFF"/>
          </a:solidFill>
          <a:ln w="9525">
            <a:solidFill>
              <a:srgbClr val="0E7C86"/>
            </a:solidFill>
            <a:prstDash val="solid"/>
          </a:ln>
          <a:effectLst>
            <a:outerShdw blurRad="101600" dist="38100" dir="8100000" algn="bl" rotWithShape="0">
              <a:srgbClr val="000000">
                <a:alpha val="18000"/>
              </a:srgbClr>
            </a:outerShdw>
          </a:effectLst>
        </p:spPr>
        <p:txBody>
          <a:bodyPr/>
          <a:lstStyle/>
          <a:p>
            <a:endParaRPr lang="en-GH"/>
          </a:p>
        </p:txBody>
      </p:sp>
      <p:sp>
        <p:nvSpPr>
          <p:cNvPr id="9" name="Shape 7"/>
          <p:cNvSpPr/>
          <p:nvPr/>
        </p:nvSpPr>
        <p:spPr>
          <a:xfrm>
            <a:off x="292608" y="1963674"/>
            <a:ext cx="402336" cy="402336"/>
          </a:xfrm>
          <a:prstGeom prst="ellipse">
            <a:avLst/>
          </a:prstGeom>
          <a:solidFill>
            <a:srgbClr val="0E7C86"/>
          </a:solidFill>
          <a:ln w="12700">
            <a:solidFill>
              <a:srgbClr val="0E7C86"/>
            </a:solidFill>
            <a:prstDash val="solid"/>
          </a:ln>
        </p:spPr>
        <p:txBody>
          <a:bodyPr/>
          <a:lstStyle/>
          <a:p>
            <a:endParaRPr lang="en-GH"/>
          </a:p>
        </p:txBody>
      </p:sp>
      <p:sp>
        <p:nvSpPr>
          <p:cNvPr id="10" name="Text 8"/>
          <p:cNvSpPr/>
          <p:nvPr/>
        </p:nvSpPr>
        <p:spPr>
          <a:xfrm>
            <a:off x="292608" y="196367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Text 9"/>
          <p:cNvSpPr/>
          <p:nvPr/>
        </p:nvSpPr>
        <p:spPr>
          <a:xfrm>
            <a:off x="786384" y="179679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Pipelining is described as similar to an assembly line. Draw a simple diagram (on paper) showing how 4 instructions can overlap in a 4-stage pipeline, then explain one major problem pipelining can face.</a:t>
            </a:r>
            <a:endParaRPr lang="en-US" sz="1250" dirty="0"/>
          </a:p>
        </p:txBody>
      </p:sp>
      <p:sp>
        <p:nvSpPr>
          <p:cNvPr id="12" name="Shape 10"/>
          <p:cNvSpPr/>
          <p:nvPr/>
        </p:nvSpPr>
        <p:spPr>
          <a:xfrm>
            <a:off x="228600" y="2679192"/>
            <a:ext cx="8686800" cy="845820"/>
          </a:xfrm>
          <a:prstGeom prst="rect">
            <a:avLst/>
          </a:prstGeom>
          <a:solidFill>
            <a:srgbClr val="FFFFFF"/>
          </a:solidFill>
          <a:ln w="9525">
            <a:solidFill>
              <a:srgbClr val="0E7C86"/>
            </a:solidFill>
            <a:prstDash val="solid"/>
          </a:ln>
          <a:effectLst>
            <a:outerShdw blurRad="101600" dist="38100" dir="8100000" algn="bl" rotWithShape="0">
              <a:srgbClr val="000000">
                <a:alpha val="18000"/>
              </a:srgbClr>
            </a:outerShdw>
          </a:effectLst>
        </p:spPr>
        <p:txBody>
          <a:bodyPr/>
          <a:lstStyle/>
          <a:p>
            <a:endParaRPr lang="en-GH"/>
          </a:p>
        </p:txBody>
      </p:sp>
      <p:sp>
        <p:nvSpPr>
          <p:cNvPr id="13" name="Shape 11"/>
          <p:cNvSpPr/>
          <p:nvPr/>
        </p:nvSpPr>
        <p:spPr>
          <a:xfrm>
            <a:off x="292608" y="2900934"/>
            <a:ext cx="402336" cy="402336"/>
          </a:xfrm>
          <a:prstGeom prst="ellipse">
            <a:avLst/>
          </a:prstGeom>
          <a:solidFill>
            <a:srgbClr val="0E7C86"/>
          </a:solidFill>
          <a:ln w="12700">
            <a:solidFill>
              <a:srgbClr val="0E7C86"/>
            </a:solidFill>
            <a:prstDash val="solid"/>
          </a:ln>
        </p:spPr>
        <p:txBody>
          <a:bodyPr/>
          <a:lstStyle/>
          <a:p>
            <a:endParaRPr lang="en-GH"/>
          </a:p>
        </p:txBody>
      </p:sp>
      <p:sp>
        <p:nvSpPr>
          <p:cNvPr id="14" name="Text 12"/>
          <p:cNvSpPr/>
          <p:nvPr/>
        </p:nvSpPr>
        <p:spPr>
          <a:xfrm>
            <a:off x="292608" y="290093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5" name="Text 13"/>
          <p:cNvSpPr/>
          <p:nvPr/>
        </p:nvSpPr>
        <p:spPr>
          <a:xfrm>
            <a:off x="786384" y="273405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Speculative execution and branch prediction work together. Explain what happens in the processor when a branch prediction turns out to be WRONG. Why can this be a security concern? (Think about Spectre/Meltdown vulnerabilities — Google if needed.)</a:t>
            </a:r>
            <a:endParaRPr lang="en-US" sz="1250" dirty="0"/>
          </a:p>
        </p:txBody>
      </p:sp>
      <p:sp>
        <p:nvSpPr>
          <p:cNvPr id="16" name="Shape 14"/>
          <p:cNvSpPr/>
          <p:nvPr/>
        </p:nvSpPr>
        <p:spPr>
          <a:xfrm>
            <a:off x="228600" y="3616452"/>
            <a:ext cx="8686800" cy="845820"/>
          </a:xfrm>
          <a:prstGeom prst="rect">
            <a:avLst/>
          </a:prstGeom>
          <a:solidFill>
            <a:srgbClr val="FFFFFF"/>
          </a:solidFill>
          <a:ln w="9525">
            <a:solidFill>
              <a:srgbClr val="0E7C86"/>
            </a:solidFill>
            <a:prstDash val="solid"/>
          </a:ln>
          <a:effectLst>
            <a:outerShdw blurRad="101600" dist="38100" dir="8100000" algn="bl" rotWithShape="0">
              <a:srgbClr val="000000">
                <a:alpha val="18000"/>
              </a:srgbClr>
            </a:outerShdw>
          </a:effectLst>
        </p:spPr>
        <p:txBody>
          <a:bodyPr/>
          <a:lstStyle/>
          <a:p>
            <a:endParaRPr lang="en-GH"/>
          </a:p>
        </p:txBody>
      </p:sp>
      <p:sp>
        <p:nvSpPr>
          <p:cNvPr id="17" name="Shape 15"/>
          <p:cNvSpPr/>
          <p:nvPr/>
        </p:nvSpPr>
        <p:spPr>
          <a:xfrm>
            <a:off x="292608" y="3838194"/>
            <a:ext cx="402336" cy="402336"/>
          </a:xfrm>
          <a:prstGeom prst="ellipse">
            <a:avLst/>
          </a:prstGeom>
          <a:solidFill>
            <a:srgbClr val="0E7C86"/>
          </a:solidFill>
          <a:ln w="12700">
            <a:solidFill>
              <a:srgbClr val="0E7C86"/>
            </a:solidFill>
            <a:prstDash val="solid"/>
          </a:ln>
        </p:spPr>
        <p:txBody>
          <a:bodyPr/>
          <a:lstStyle/>
          <a:p>
            <a:endParaRPr lang="en-GH"/>
          </a:p>
        </p:txBody>
      </p:sp>
      <p:sp>
        <p:nvSpPr>
          <p:cNvPr id="18" name="Text 16"/>
          <p:cNvSpPr/>
          <p:nvPr/>
        </p:nvSpPr>
        <p:spPr>
          <a:xfrm>
            <a:off x="292608" y="383819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7"/>
          <p:cNvSpPr/>
          <p:nvPr/>
        </p:nvSpPr>
        <p:spPr>
          <a:xfrm>
            <a:off x="786384" y="367131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Superscalar processors issue more than one instruction per clock cycle. What hardware challenge must the processor solve to make this work safely?</a:t>
            </a:r>
            <a:endParaRPr lang="en-US" sz="1250" dirty="0"/>
          </a:p>
        </p:txBody>
      </p:sp>
      <p:sp>
        <p:nvSpPr>
          <p:cNvPr id="20" name="Shape 18"/>
          <p:cNvSpPr/>
          <p:nvPr/>
        </p:nvSpPr>
        <p:spPr>
          <a:xfrm>
            <a:off x="228600" y="4572000"/>
            <a:ext cx="8686800" cy="402336"/>
          </a:xfrm>
          <a:prstGeom prst="rect">
            <a:avLst/>
          </a:prstGeom>
          <a:solidFill>
            <a:srgbClr val="F4A261">
              <a:alpha val="70000"/>
            </a:srgbClr>
          </a:solidFill>
          <a:ln w="12700">
            <a:solidFill>
              <a:srgbClr val="F4A261"/>
            </a:solidFill>
            <a:prstDash val="solid"/>
          </a:ln>
        </p:spPr>
        <p:txBody>
          <a:bodyPr/>
          <a:lstStyle/>
          <a:p>
            <a:endParaRPr lang="en-GH"/>
          </a:p>
        </p:txBody>
      </p:sp>
      <p:sp>
        <p:nvSpPr>
          <p:cNvPr id="21" name="Text 19"/>
          <p:cNvSpPr/>
          <p:nvPr/>
        </p:nvSpPr>
        <p:spPr>
          <a:xfrm>
            <a:off x="347472" y="4599432"/>
            <a:ext cx="8321040" cy="347472"/>
          </a:xfrm>
          <a:prstGeom prst="rect">
            <a:avLst/>
          </a:prstGeom>
          <a:noFill/>
          <a:ln/>
        </p:spPr>
        <p:txBody>
          <a:bodyPr wrap="square" lIns="0" tIns="0" rIns="0" bIns="0" rtlCol="0" anchor="ctr"/>
          <a:lstStyle/>
          <a:p>
            <a:pPr marL="0" indent="0">
              <a:buNone/>
            </a:pPr>
            <a:r>
              <a:rPr lang="en-US" sz="1100" i="1" dirty="0">
                <a:solidFill>
                  <a:srgbClr val="0D1B2A"/>
                </a:solidFill>
                <a:latin typeface="Calibri" pitchFamily="34" charset="0"/>
                <a:ea typeface="Calibri" pitchFamily="34" charset="-122"/>
                <a:cs typeface="Calibri" pitchFamily="34" charset="-120"/>
              </a:rPr>
              <a:t>💡  Tip: Re-read Slide 4 notes carefully — the full explanations are richer than the bullet points.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2A9D8F"/>
          </a:solidFill>
          <a:ln w="12700">
            <a:solidFill>
              <a:srgbClr val="2A9D8F"/>
            </a:solidFill>
            <a:prstDash val="solid"/>
          </a:ln>
        </p:spPr>
        <p:txBody>
          <a:bodyPr/>
          <a:lstStyle/>
          <a:p>
            <a:endParaRPr lang="en-GH"/>
          </a:p>
        </p:txBody>
      </p:sp>
      <p:sp>
        <p:nvSpPr>
          <p:cNvPr id="3" name="Text 1"/>
          <p:cNvSpPr/>
          <p:nvPr/>
        </p:nvSpPr>
        <p:spPr>
          <a:xfrm>
            <a:off x="365760" y="164592"/>
            <a:ext cx="8229600" cy="384048"/>
          </a:xfrm>
          <a:prstGeom prst="rect">
            <a:avLst/>
          </a:prstGeom>
          <a:noFill/>
          <a:ln/>
        </p:spPr>
        <p:txBody>
          <a:bodyPr wrap="square" lIns="0" tIns="0" rIns="0" bIns="0" rtlCol="0" anchor="ctr"/>
          <a:lstStyle/>
          <a:p>
            <a:pPr marL="0" indent="0">
              <a:buNone/>
            </a:pPr>
            <a:r>
              <a:rPr lang="en-US" sz="1300" b="1" kern="0" spc="500" dirty="0">
                <a:solidFill>
                  <a:srgbClr val="0D1B2A"/>
                </a:solidFill>
              </a:rPr>
              <a:t>TASK 2</a:t>
            </a:r>
            <a:endParaRPr lang="en-US" sz="1300" dirty="0"/>
          </a:p>
        </p:txBody>
      </p:sp>
      <p:sp>
        <p:nvSpPr>
          <p:cNvPr id="4" name="Text 2"/>
          <p:cNvSpPr/>
          <p:nvPr/>
        </p:nvSpPr>
        <p:spPr>
          <a:xfrm>
            <a:off x="365760" y="512064"/>
            <a:ext cx="8321040" cy="658368"/>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Performance Balance &amp; Memory Wall</a:t>
            </a:r>
            <a:endParaRPr lang="en-US" sz="3000" dirty="0"/>
          </a:p>
        </p:txBody>
      </p:sp>
      <p:sp>
        <p:nvSpPr>
          <p:cNvPr id="5" name="Text 3"/>
          <p:cNvSpPr/>
          <p:nvPr/>
        </p:nvSpPr>
        <p:spPr>
          <a:xfrm>
            <a:off x="365760" y="1463040"/>
            <a:ext cx="8412480" cy="822960"/>
          </a:xfrm>
          <a:prstGeom prst="rect">
            <a:avLst/>
          </a:prstGeom>
          <a:noFill/>
          <a:ln/>
        </p:spPr>
        <p:txBody>
          <a:bodyPr wrap="square" rtlCol="0" anchor="ctr"/>
          <a:lstStyle/>
          <a:p>
            <a:pPr marL="0" indent="0">
              <a:buNone/>
            </a:pPr>
            <a:r>
              <a:rPr lang="en-US" sz="1600" i="1" dirty="0">
                <a:solidFill>
                  <a:srgbClr val="E8F4F8"/>
                </a:solidFill>
                <a:latin typeface="Calibri" pitchFamily="34" charset="0"/>
                <a:ea typeface="Calibri" pitchFamily="34" charset="-122"/>
                <a:cs typeface="Calibri" pitchFamily="34" charset="-120"/>
              </a:rPr>
              <a:t>When the processor is a race car but memory is a bicycle — what do engineers do?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A9D8F"/>
          </a:solidFill>
          <a:ln w="12700">
            <a:solidFill>
              <a:srgbClr val="2A9D8F"/>
            </a:solidFill>
            <a:prstDash val="solid"/>
          </a:ln>
        </p:spPr>
        <p:txBody>
          <a:bodyPr/>
          <a:lstStyle/>
          <a:p>
            <a:endParaRPr lang="en-GH"/>
          </a:p>
        </p:txBody>
      </p:sp>
      <p:sp>
        <p:nvSpPr>
          <p:cNvPr id="3" name="Text 1"/>
          <p:cNvSpPr/>
          <p:nvPr/>
        </p:nvSpPr>
        <p:spPr>
          <a:xfrm>
            <a:off x="274320" y="128016"/>
            <a:ext cx="8412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TASK 2  •  Performance Balance &amp; Memory Wall</a:t>
            </a:r>
            <a:endParaRPr lang="en-US" sz="1400" dirty="0"/>
          </a:p>
        </p:txBody>
      </p:sp>
      <p:sp>
        <p:nvSpPr>
          <p:cNvPr id="4" name="Shape 2"/>
          <p:cNvSpPr/>
          <p:nvPr/>
        </p:nvSpPr>
        <p:spPr>
          <a:xfrm>
            <a:off x="228600" y="804672"/>
            <a:ext cx="8686800" cy="845820"/>
          </a:xfrm>
          <a:prstGeom prst="rect">
            <a:avLst/>
          </a:prstGeom>
          <a:solidFill>
            <a:srgbClr val="FFFFFF"/>
          </a:solidFill>
          <a:ln w="9525">
            <a:solidFill>
              <a:srgbClr val="2A9D8F"/>
            </a:solidFill>
            <a:prstDash val="solid"/>
          </a:ln>
          <a:effectLst>
            <a:outerShdw blurRad="101600" dist="38100" dir="8100000" algn="bl" rotWithShape="0">
              <a:srgbClr val="000000">
                <a:alpha val="18000"/>
              </a:srgbClr>
            </a:outerShdw>
          </a:effectLst>
        </p:spPr>
        <p:txBody>
          <a:bodyPr/>
          <a:lstStyle/>
          <a:p>
            <a:endParaRPr lang="en-GH"/>
          </a:p>
        </p:txBody>
      </p:sp>
      <p:sp>
        <p:nvSpPr>
          <p:cNvPr id="5" name="Shape 3"/>
          <p:cNvSpPr/>
          <p:nvPr/>
        </p:nvSpPr>
        <p:spPr>
          <a:xfrm>
            <a:off x="292608" y="1026414"/>
            <a:ext cx="402336" cy="402336"/>
          </a:xfrm>
          <a:prstGeom prst="ellipse">
            <a:avLst/>
          </a:prstGeom>
          <a:solidFill>
            <a:srgbClr val="2A9D8F"/>
          </a:solidFill>
          <a:ln w="12700">
            <a:solidFill>
              <a:srgbClr val="2A9D8F"/>
            </a:solidFill>
            <a:prstDash val="solid"/>
          </a:ln>
        </p:spPr>
        <p:txBody>
          <a:bodyPr/>
          <a:lstStyle/>
          <a:p>
            <a:endParaRPr lang="en-GH"/>
          </a:p>
        </p:txBody>
      </p:sp>
      <p:sp>
        <p:nvSpPr>
          <p:cNvPr id="6" name="Text 4"/>
          <p:cNvSpPr/>
          <p:nvPr/>
        </p:nvSpPr>
        <p:spPr>
          <a:xfrm>
            <a:off x="292608" y="102641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786384" y="85953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The "memory wall" is a major performance bottleneck. Explain in your own words what the memory wall is and WHY it matters even when the processor is very fast.</a:t>
            </a:r>
            <a:endParaRPr lang="en-US" sz="1250" dirty="0"/>
          </a:p>
        </p:txBody>
      </p:sp>
      <p:sp>
        <p:nvSpPr>
          <p:cNvPr id="8" name="Shape 6"/>
          <p:cNvSpPr/>
          <p:nvPr/>
        </p:nvSpPr>
        <p:spPr>
          <a:xfrm>
            <a:off x="228600" y="1741932"/>
            <a:ext cx="8686800" cy="845820"/>
          </a:xfrm>
          <a:prstGeom prst="rect">
            <a:avLst/>
          </a:prstGeom>
          <a:solidFill>
            <a:srgbClr val="FFFFFF"/>
          </a:solidFill>
          <a:ln w="9525">
            <a:solidFill>
              <a:srgbClr val="2A9D8F"/>
            </a:solidFill>
            <a:prstDash val="solid"/>
          </a:ln>
          <a:effectLst>
            <a:outerShdw blurRad="101600" dist="38100" dir="8100000" algn="bl" rotWithShape="0">
              <a:srgbClr val="000000">
                <a:alpha val="18000"/>
              </a:srgbClr>
            </a:outerShdw>
          </a:effectLst>
        </p:spPr>
        <p:txBody>
          <a:bodyPr/>
          <a:lstStyle/>
          <a:p>
            <a:endParaRPr lang="en-GH"/>
          </a:p>
        </p:txBody>
      </p:sp>
      <p:sp>
        <p:nvSpPr>
          <p:cNvPr id="9" name="Shape 7"/>
          <p:cNvSpPr/>
          <p:nvPr/>
        </p:nvSpPr>
        <p:spPr>
          <a:xfrm>
            <a:off x="292608" y="1963674"/>
            <a:ext cx="402336" cy="402336"/>
          </a:xfrm>
          <a:prstGeom prst="ellipse">
            <a:avLst/>
          </a:prstGeom>
          <a:solidFill>
            <a:srgbClr val="2A9D8F"/>
          </a:solidFill>
          <a:ln w="12700">
            <a:solidFill>
              <a:srgbClr val="2A9D8F"/>
            </a:solidFill>
            <a:prstDash val="solid"/>
          </a:ln>
        </p:spPr>
        <p:txBody>
          <a:bodyPr/>
          <a:lstStyle/>
          <a:p>
            <a:endParaRPr lang="en-GH"/>
          </a:p>
        </p:txBody>
      </p:sp>
      <p:sp>
        <p:nvSpPr>
          <p:cNvPr id="10" name="Text 8"/>
          <p:cNvSpPr/>
          <p:nvPr/>
        </p:nvSpPr>
        <p:spPr>
          <a:xfrm>
            <a:off x="292608" y="196367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Text 9"/>
          <p:cNvSpPr/>
          <p:nvPr/>
        </p:nvSpPr>
        <p:spPr>
          <a:xfrm>
            <a:off x="786384" y="179679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List FOUR specific architectural strategies used to reduce the impact of slow memory access. For each strategy, write one sentence explaining how it helps.</a:t>
            </a:r>
            <a:endParaRPr lang="en-US" sz="1250" dirty="0"/>
          </a:p>
        </p:txBody>
      </p:sp>
      <p:sp>
        <p:nvSpPr>
          <p:cNvPr id="12" name="Shape 10"/>
          <p:cNvSpPr/>
          <p:nvPr/>
        </p:nvSpPr>
        <p:spPr>
          <a:xfrm>
            <a:off x="228600" y="2679192"/>
            <a:ext cx="8686800" cy="845820"/>
          </a:xfrm>
          <a:prstGeom prst="rect">
            <a:avLst/>
          </a:prstGeom>
          <a:solidFill>
            <a:srgbClr val="FFFFFF"/>
          </a:solidFill>
          <a:ln w="9525">
            <a:solidFill>
              <a:srgbClr val="2A9D8F"/>
            </a:solidFill>
            <a:prstDash val="solid"/>
          </a:ln>
          <a:effectLst>
            <a:outerShdw blurRad="101600" dist="38100" dir="8100000" algn="bl" rotWithShape="0">
              <a:srgbClr val="000000">
                <a:alpha val="18000"/>
              </a:srgbClr>
            </a:outerShdw>
          </a:effectLst>
        </p:spPr>
        <p:txBody>
          <a:bodyPr/>
          <a:lstStyle/>
          <a:p>
            <a:endParaRPr lang="en-GH"/>
          </a:p>
        </p:txBody>
      </p:sp>
      <p:sp>
        <p:nvSpPr>
          <p:cNvPr id="13" name="Shape 11"/>
          <p:cNvSpPr/>
          <p:nvPr/>
        </p:nvSpPr>
        <p:spPr>
          <a:xfrm>
            <a:off x="292608" y="2900934"/>
            <a:ext cx="402336" cy="402336"/>
          </a:xfrm>
          <a:prstGeom prst="ellipse">
            <a:avLst/>
          </a:prstGeom>
          <a:solidFill>
            <a:srgbClr val="2A9D8F"/>
          </a:solidFill>
          <a:ln w="12700">
            <a:solidFill>
              <a:srgbClr val="2A9D8F"/>
            </a:solidFill>
            <a:prstDash val="solid"/>
          </a:ln>
        </p:spPr>
        <p:txBody>
          <a:bodyPr/>
          <a:lstStyle/>
          <a:p>
            <a:endParaRPr lang="en-GH"/>
          </a:p>
        </p:txBody>
      </p:sp>
      <p:sp>
        <p:nvSpPr>
          <p:cNvPr id="14" name="Text 12"/>
          <p:cNvSpPr/>
          <p:nvPr/>
        </p:nvSpPr>
        <p:spPr>
          <a:xfrm>
            <a:off x="292608" y="290093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5" name="Text 13"/>
          <p:cNvSpPr/>
          <p:nvPr/>
        </p:nvSpPr>
        <p:spPr>
          <a:xfrm>
            <a:off x="786384" y="273405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Look at Figure 2.1 (I/O device data rates). Identify the device with the LOWEST data rate and the one with the HIGHEST. What is the ratio between them? What does this tell a system designer about I/O architecture?</a:t>
            </a:r>
            <a:endParaRPr lang="en-US" sz="1250" dirty="0"/>
          </a:p>
        </p:txBody>
      </p:sp>
      <p:sp>
        <p:nvSpPr>
          <p:cNvPr id="16" name="Shape 14"/>
          <p:cNvSpPr/>
          <p:nvPr/>
        </p:nvSpPr>
        <p:spPr>
          <a:xfrm>
            <a:off x="228600" y="3616452"/>
            <a:ext cx="8686800" cy="845820"/>
          </a:xfrm>
          <a:prstGeom prst="rect">
            <a:avLst/>
          </a:prstGeom>
          <a:solidFill>
            <a:srgbClr val="FFFFFF"/>
          </a:solidFill>
          <a:ln w="9525">
            <a:solidFill>
              <a:srgbClr val="2A9D8F"/>
            </a:solidFill>
            <a:prstDash val="solid"/>
          </a:ln>
          <a:effectLst>
            <a:outerShdw blurRad="101600" dist="38100" dir="8100000" algn="bl" rotWithShape="0">
              <a:srgbClr val="000000">
                <a:alpha val="18000"/>
              </a:srgbClr>
            </a:outerShdw>
          </a:effectLst>
        </p:spPr>
        <p:txBody>
          <a:bodyPr/>
          <a:lstStyle/>
          <a:p>
            <a:endParaRPr lang="en-GH"/>
          </a:p>
        </p:txBody>
      </p:sp>
      <p:sp>
        <p:nvSpPr>
          <p:cNvPr id="17" name="Shape 15"/>
          <p:cNvSpPr/>
          <p:nvPr/>
        </p:nvSpPr>
        <p:spPr>
          <a:xfrm>
            <a:off x="292608" y="3838194"/>
            <a:ext cx="402336" cy="402336"/>
          </a:xfrm>
          <a:prstGeom prst="ellipse">
            <a:avLst/>
          </a:prstGeom>
          <a:solidFill>
            <a:srgbClr val="2A9D8F"/>
          </a:solidFill>
          <a:ln w="12700">
            <a:solidFill>
              <a:srgbClr val="2A9D8F"/>
            </a:solidFill>
            <a:prstDash val="solid"/>
          </a:ln>
        </p:spPr>
        <p:txBody>
          <a:bodyPr/>
          <a:lstStyle/>
          <a:p>
            <a:endParaRPr lang="en-GH"/>
          </a:p>
        </p:txBody>
      </p:sp>
      <p:sp>
        <p:nvSpPr>
          <p:cNvPr id="18" name="Text 16"/>
          <p:cNvSpPr/>
          <p:nvPr/>
        </p:nvSpPr>
        <p:spPr>
          <a:xfrm>
            <a:off x="292608" y="383819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7"/>
          <p:cNvSpPr/>
          <p:nvPr/>
        </p:nvSpPr>
        <p:spPr>
          <a:xfrm>
            <a:off x="786384" y="367131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Imagine a processor that runs at 4 GHz but main memory has a 100ns access latency. How many clock cycles does the processor waste waiting for one memory access? Show your calculation.</a:t>
            </a:r>
            <a:endParaRPr lang="en-US" sz="1250" dirty="0"/>
          </a:p>
        </p:txBody>
      </p:sp>
      <p:sp>
        <p:nvSpPr>
          <p:cNvPr id="20" name="Shape 18"/>
          <p:cNvSpPr/>
          <p:nvPr/>
        </p:nvSpPr>
        <p:spPr>
          <a:xfrm>
            <a:off x="228600" y="4572000"/>
            <a:ext cx="8686800" cy="402336"/>
          </a:xfrm>
          <a:prstGeom prst="rect">
            <a:avLst/>
          </a:prstGeom>
          <a:solidFill>
            <a:srgbClr val="F4A261">
              <a:alpha val="70000"/>
            </a:srgbClr>
          </a:solidFill>
          <a:ln w="12700">
            <a:solidFill>
              <a:srgbClr val="F4A261"/>
            </a:solidFill>
            <a:prstDash val="solid"/>
          </a:ln>
        </p:spPr>
        <p:txBody>
          <a:bodyPr/>
          <a:lstStyle/>
          <a:p>
            <a:endParaRPr lang="en-GH"/>
          </a:p>
        </p:txBody>
      </p:sp>
      <p:sp>
        <p:nvSpPr>
          <p:cNvPr id="21" name="Text 19"/>
          <p:cNvSpPr/>
          <p:nvPr/>
        </p:nvSpPr>
        <p:spPr>
          <a:xfrm>
            <a:off x="347472" y="4599432"/>
            <a:ext cx="8321040" cy="347472"/>
          </a:xfrm>
          <a:prstGeom prst="rect">
            <a:avLst/>
          </a:prstGeom>
          <a:noFill/>
          <a:ln/>
        </p:spPr>
        <p:txBody>
          <a:bodyPr wrap="square" lIns="0" tIns="0" rIns="0" bIns="0" rtlCol="0" anchor="ctr"/>
          <a:lstStyle/>
          <a:p>
            <a:pPr marL="0" indent="0">
              <a:buNone/>
            </a:pPr>
            <a:r>
              <a:rPr lang="en-US" sz="1100" i="1" dirty="0">
                <a:solidFill>
                  <a:srgbClr val="0D1B2A"/>
                </a:solidFill>
                <a:latin typeface="Calibri" pitchFamily="34" charset="0"/>
                <a:ea typeface="Calibri" pitchFamily="34" charset="-122"/>
                <a:cs typeface="Calibri" pitchFamily="34" charset="-120"/>
              </a:rPr>
              <a:t>💡  Tip: For Q4: clock cycle time = 1 / clock frequency. Cycles wasted = latency / cycle 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F4A261"/>
          </a:solidFill>
          <a:ln w="12700">
            <a:solidFill>
              <a:srgbClr val="F4A261"/>
            </a:solidFill>
            <a:prstDash val="solid"/>
          </a:ln>
        </p:spPr>
        <p:txBody>
          <a:bodyPr/>
          <a:lstStyle/>
          <a:p>
            <a:endParaRPr lang="en-GH"/>
          </a:p>
        </p:txBody>
      </p:sp>
      <p:sp>
        <p:nvSpPr>
          <p:cNvPr id="3" name="Text 1"/>
          <p:cNvSpPr/>
          <p:nvPr/>
        </p:nvSpPr>
        <p:spPr>
          <a:xfrm>
            <a:off x="365760" y="164592"/>
            <a:ext cx="8229600" cy="384048"/>
          </a:xfrm>
          <a:prstGeom prst="rect">
            <a:avLst/>
          </a:prstGeom>
          <a:noFill/>
          <a:ln/>
        </p:spPr>
        <p:txBody>
          <a:bodyPr wrap="square" lIns="0" tIns="0" rIns="0" bIns="0" rtlCol="0" anchor="ctr"/>
          <a:lstStyle/>
          <a:p>
            <a:pPr marL="0" indent="0">
              <a:buNone/>
            </a:pPr>
            <a:r>
              <a:rPr lang="en-US" sz="1300" b="1" kern="0" spc="500" dirty="0">
                <a:solidFill>
                  <a:srgbClr val="0D1B2A"/>
                </a:solidFill>
              </a:rPr>
              <a:t>TASK 3</a:t>
            </a:r>
            <a:endParaRPr lang="en-US" sz="1300" dirty="0"/>
          </a:p>
        </p:txBody>
      </p:sp>
      <p:sp>
        <p:nvSpPr>
          <p:cNvPr id="4" name="Text 2"/>
          <p:cNvSpPr/>
          <p:nvPr/>
        </p:nvSpPr>
        <p:spPr>
          <a:xfrm>
            <a:off x="365760" y="512064"/>
            <a:ext cx="8321040" cy="658368"/>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Multicore, MIC &amp; GPU Revolution</a:t>
            </a:r>
            <a:endParaRPr lang="en-US" sz="3000" dirty="0"/>
          </a:p>
        </p:txBody>
      </p:sp>
      <p:sp>
        <p:nvSpPr>
          <p:cNvPr id="5" name="Text 3"/>
          <p:cNvSpPr/>
          <p:nvPr/>
        </p:nvSpPr>
        <p:spPr>
          <a:xfrm>
            <a:off x="365760" y="1463040"/>
            <a:ext cx="8412480" cy="822960"/>
          </a:xfrm>
          <a:prstGeom prst="rect">
            <a:avLst/>
          </a:prstGeom>
          <a:noFill/>
          <a:ln/>
        </p:spPr>
        <p:txBody>
          <a:bodyPr wrap="square" rtlCol="0" anchor="ctr"/>
          <a:lstStyle/>
          <a:p>
            <a:pPr marL="0" indent="0">
              <a:buNone/>
            </a:pPr>
            <a:r>
              <a:rPr lang="en-US" sz="1600" i="1" dirty="0">
                <a:solidFill>
                  <a:srgbClr val="E8F4F8"/>
                </a:solidFill>
                <a:latin typeface="Calibri" pitchFamily="34" charset="0"/>
                <a:ea typeface="Calibri" pitchFamily="34" charset="-122"/>
                <a:cs typeface="Calibri" pitchFamily="34" charset="-120"/>
              </a:rPr>
              <a:t>Why did chip designers stop racing clock speed and start stacking cores?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4A261"/>
          </a:solidFill>
          <a:ln w="12700">
            <a:solidFill>
              <a:srgbClr val="F4A261"/>
            </a:solidFill>
            <a:prstDash val="solid"/>
          </a:ln>
        </p:spPr>
        <p:txBody>
          <a:bodyPr/>
          <a:lstStyle/>
          <a:p>
            <a:endParaRPr lang="en-GH"/>
          </a:p>
        </p:txBody>
      </p:sp>
      <p:sp>
        <p:nvSpPr>
          <p:cNvPr id="3" name="Text 1"/>
          <p:cNvSpPr/>
          <p:nvPr/>
        </p:nvSpPr>
        <p:spPr>
          <a:xfrm>
            <a:off x="274320" y="128016"/>
            <a:ext cx="8412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TASK 3  •  Multicore, MIC &amp; GPU</a:t>
            </a:r>
            <a:endParaRPr lang="en-US" sz="1400" dirty="0"/>
          </a:p>
        </p:txBody>
      </p:sp>
      <p:sp>
        <p:nvSpPr>
          <p:cNvPr id="4" name="Shape 2"/>
          <p:cNvSpPr/>
          <p:nvPr/>
        </p:nvSpPr>
        <p:spPr>
          <a:xfrm>
            <a:off x="228600" y="804672"/>
            <a:ext cx="8686800" cy="845820"/>
          </a:xfrm>
          <a:prstGeom prst="rect">
            <a:avLst/>
          </a:prstGeom>
          <a:solidFill>
            <a:srgbClr val="FFFFFF"/>
          </a:solidFill>
          <a:ln w="9525">
            <a:solidFill>
              <a:srgbClr val="F4A261"/>
            </a:solidFill>
            <a:prstDash val="solid"/>
          </a:ln>
          <a:effectLst>
            <a:outerShdw blurRad="101600" dist="38100" dir="8100000" algn="bl" rotWithShape="0">
              <a:srgbClr val="000000">
                <a:alpha val="18000"/>
              </a:srgbClr>
            </a:outerShdw>
          </a:effectLst>
        </p:spPr>
        <p:txBody>
          <a:bodyPr/>
          <a:lstStyle/>
          <a:p>
            <a:endParaRPr lang="en-GH"/>
          </a:p>
        </p:txBody>
      </p:sp>
      <p:sp>
        <p:nvSpPr>
          <p:cNvPr id="5" name="Shape 3"/>
          <p:cNvSpPr/>
          <p:nvPr/>
        </p:nvSpPr>
        <p:spPr>
          <a:xfrm>
            <a:off x="292608" y="1026414"/>
            <a:ext cx="402336" cy="402336"/>
          </a:xfrm>
          <a:prstGeom prst="ellipse">
            <a:avLst/>
          </a:prstGeom>
          <a:solidFill>
            <a:srgbClr val="F4A261"/>
          </a:solidFill>
          <a:ln w="12700">
            <a:solidFill>
              <a:srgbClr val="F4A261"/>
            </a:solidFill>
            <a:prstDash val="solid"/>
          </a:ln>
        </p:spPr>
        <p:txBody>
          <a:bodyPr/>
          <a:lstStyle/>
          <a:p>
            <a:endParaRPr lang="en-GH"/>
          </a:p>
        </p:txBody>
      </p:sp>
      <p:sp>
        <p:nvSpPr>
          <p:cNvPr id="6" name="Text 4"/>
          <p:cNvSpPr/>
          <p:nvPr/>
        </p:nvSpPr>
        <p:spPr>
          <a:xfrm>
            <a:off x="292608" y="102641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786384" y="85953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Figure 2.2 shows that clock frequency leveled off around 2003 while transistor count kept rising. Using the concepts of Power density and RC delay from the slides, explain WHY clock speed could not keep increasing indefinitely.</a:t>
            </a:r>
            <a:endParaRPr lang="en-US" sz="1250" dirty="0"/>
          </a:p>
        </p:txBody>
      </p:sp>
      <p:sp>
        <p:nvSpPr>
          <p:cNvPr id="8" name="Shape 6"/>
          <p:cNvSpPr/>
          <p:nvPr/>
        </p:nvSpPr>
        <p:spPr>
          <a:xfrm>
            <a:off x="228600" y="1741932"/>
            <a:ext cx="8686800" cy="845820"/>
          </a:xfrm>
          <a:prstGeom prst="rect">
            <a:avLst/>
          </a:prstGeom>
          <a:solidFill>
            <a:srgbClr val="FFFFFF"/>
          </a:solidFill>
          <a:ln w="9525">
            <a:solidFill>
              <a:srgbClr val="F4A261"/>
            </a:solidFill>
            <a:prstDash val="solid"/>
          </a:ln>
          <a:effectLst>
            <a:outerShdw blurRad="101600" dist="38100" dir="8100000" algn="bl" rotWithShape="0">
              <a:srgbClr val="000000">
                <a:alpha val="18000"/>
              </a:srgbClr>
            </a:outerShdw>
          </a:effectLst>
        </p:spPr>
        <p:txBody>
          <a:bodyPr/>
          <a:lstStyle/>
          <a:p>
            <a:endParaRPr lang="en-GH"/>
          </a:p>
        </p:txBody>
      </p:sp>
      <p:sp>
        <p:nvSpPr>
          <p:cNvPr id="9" name="Shape 7"/>
          <p:cNvSpPr/>
          <p:nvPr/>
        </p:nvSpPr>
        <p:spPr>
          <a:xfrm>
            <a:off x="292608" y="1963674"/>
            <a:ext cx="402336" cy="402336"/>
          </a:xfrm>
          <a:prstGeom prst="ellipse">
            <a:avLst/>
          </a:prstGeom>
          <a:solidFill>
            <a:srgbClr val="F4A261"/>
          </a:solidFill>
          <a:ln w="12700">
            <a:solidFill>
              <a:srgbClr val="F4A261"/>
            </a:solidFill>
            <a:prstDash val="solid"/>
          </a:ln>
        </p:spPr>
        <p:txBody>
          <a:bodyPr/>
          <a:lstStyle/>
          <a:p>
            <a:endParaRPr lang="en-GH"/>
          </a:p>
        </p:txBody>
      </p:sp>
      <p:sp>
        <p:nvSpPr>
          <p:cNvPr id="10" name="Text 8"/>
          <p:cNvSpPr/>
          <p:nvPr/>
        </p:nvSpPr>
        <p:spPr>
          <a:xfrm>
            <a:off x="292608" y="196367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Text 9"/>
          <p:cNvSpPr/>
          <p:nvPr/>
        </p:nvSpPr>
        <p:spPr>
          <a:xfrm>
            <a:off x="786384" y="179679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A multicore chip places multiple simpler processors on one die instead of one complex processor. According to the slides, performance scales roughly with √(complexity increase) for a single processor but nearly doubles per extra core. Why is this a compelling argument for multicore design?</a:t>
            </a:r>
            <a:endParaRPr lang="en-US" sz="1250" dirty="0"/>
          </a:p>
        </p:txBody>
      </p:sp>
      <p:sp>
        <p:nvSpPr>
          <p:cNvPr id="12" name="Shape 10"/>
          <p:cNvSpPr/>
          <p:nvPr/>
        </p:nvSpPr>
        <p:spPr>
          <a:xfrm>
            <a:off x="228600" y="2679192"/>
            <a:ext cx="8686800" cy="845820"/>
          </a:xfrm>
          <a:prstGeom prst="rect">
            <a:avLst/>
          </a:prstGeom>
          <a:solidFill>
            <a:srgbClr val="FFFFFF"/>
          </a:solidFill>
          <a:ln w="9525">
            <a:solidFill>
              <a:srgbClr val="F4A261"/>
            </a:solidFill>
            <a:prstDash val="solid"/>
          </a:ln>
          <a:effectLst>
            <a:outerShdw blurRad="101600" dist="38100" dir="8100000" algn="bl" rotWithShape="0">
              <a:srgbClr val="000000">
                <a:alpha val="18000"/>
              </a:srgbClr>
            </a:outerShdw>
          </a:effectLst>
        </p:spPr>
        <p:txBody>
          <a:bodyPr/>
          <a:lstStyle/>
          <a:p>
            <a:endParaRPr lang="en-GH"/>
          </a:p>
        </p:txBody>
      </p:sp>
      <p:sp>
        <p:nvSpPr>
          <p:cNvPr id="13" name="Shape 11"/>
          <p:cNvSpPr/>
          <p:nvPr/>
        </p:nvSpPr>
        <p:spPr>
          <a:xfrm>
            <a:off x="292608" y="2900934"/>
            <a:ext cx="402336" cy="402336"/>
          </a:xfrm>
          <a:prstGeom prst="ellipse">
            <a:avLst/>
          </a:prstGeom>
          <a:solidFill>
            <a:srgbClr val="F4A261"/>
          </a:solidFill>
          <a:ln w="12700">
            <a:solidFill>
              <a:srgbClr val="F4A261"/>
            </a:solidFill>
            <a:prstDash val="solid"/>
          </a:ln>
        </p:spPr>
        <p:txBody>
          <a:bodyPr/>
          <a:lstStyle/>
          <a:p>
            <a:endParaRPr lang="en-GH"/>
          </a:p>
        </p:txBody>
      </p:sp>
      <p:sp>
        <p:nvSpPr>
          <p:cNvPr id="14" name="Text 12"/>
          <p:cNvSpPr/>
          <p:nvPr/>
        </p:nvSpPr>
        <p:spPr>
          <a:xfrm>
            <a:off x="292608" y="290093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5" name="Text 13"/>
          <p:cNvSpPr/>
          <p:nvPr/>
        </p:nvSpPr>
        <p:spPr>
          <a:xfrm>
            <a:off x="786384" y="273405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What is GPGPU (General-Purpose computing on GPUs)? Give TWO specific real-world applications where GPGPU is used today (you may search online for current examples).</a:t>
            </a:r>
            <a:endParaRPr lang="en-US" sz="1250" dirty="0"/>
          </a:p>
        </p:txBody>
      </p:sp>
      <p:sp>
        <p:nvSpPr>
          <p:cNvPr id="16" name="Shape 14"/>
          <p:cNvSpPr/>
          <p:nvPr/>
        </p:nvSpPr>
        <p:spPr>
          <a:xfrm>
            <a:off x="228600" y="3616452"/>
            <a:ext cx="8686800" cy="845820"/>
          </a:xfrm>
          <a:prstGeom prst="rect">
            <a:avLst/>
          </a:prstGeom>
          <a:solidFill>
            <a:srgbClr val="FFFFFF"/>
          </a:solidFill>
          <a:ln w="9525">
            <a:solidFill>
              <a:srgbClr val="F4A261"/>
            </a:solidFill>
            <a:prstDash val="solid"/>
          </a:ln>
          <a:effectLst>
            <a:outerShdw blurRad="101600" dist="38100" dir="8100000" algn="bl" rotWithShape="0">
              <a:srgbClr val="000000">
                <a:alpha val="18000"/>
              </a:srgbClr>
            </a:outerShdw>
          </a:effectLst>
        </p:spPr>
        <p:txBody>
          <a:bodyPr/>
          <a:lstStyle/>
          <a:p>
            <a:endParaRPr lang="en-GH"/>
          </a:p>
        </p:txBody>
      </p:sp>
      <p:sp>
        <p:nvSpPr>
          <p:cNvPr id="17" name="Shape 15"/>
          <p:cNvSpPr/>
          <p:nvPr/>
        </p:nvSpPr>
        <p:spPr>
          <a:xfrm>
            <a:off x="292608" y="3838194"/>
            <a:ext cx="402336" cy="402336"/>
          </a:xfrm>
          <a:prstGeom prst="ellipse">
            <a:avLst/>
          </a:prstGeom>
          <a:solidFill>
            <a:srgbClr val="F4A261"/>
          </a:solidFill>
          <a:ln w="12700">
            <a:solidFill>
              <a:srgbClr val="F4A261"/>
            </a:solidFill>
            <a:prstDash val="solid"/>
          </a:ln>
        </p:spPr>
        <p:txBody>
          <a:bodyPr/>
          <a:lstStyle/>
          <a:p>
            <a:endParaRPr lang="en-GH"/>
          </a:p>
        </p:txBody>
      </p:sp>
      <p:sp>
        <p:nvSpPr>
          <p:cNvPr id="18" name="Text 16"/>
          <p:cNvSpPr/>
          <p:nvPr/>
        </p:nvSpPr>
        <p:spPr>
          <a:xfrm>
            <a:off x="292608" y="383819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7"/>
          <p:cNvSpPr/>
          <p:nvPr/>
        </p:nvSpPr>
        <p:spPr>
          <a:xfrm>
            <a:off x="786384" y="367131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Compare MIC (Many Integrated Core) and a traditional multicore CPU. In what type of workload would MIC have a clear advantage? In what workload would a standard dual-core CPU be sufficient?</a:t>
            </a:r>
            <a:endParaRPr lang="en-US" sz="1250" dirty="0"/>
          </a:p>
        </p:txBody>
      </p:sp>
      <p:sp>
        <p:nvSpPr>
          <p:cNvPr id="20" name="Shape 18"/>
          <p:cNvSpPr/>
          <p:nvPr/>
        </p:nvSpPr>
        <p:spPr>
          <a:xfrm>
            <a:off x="228600" y="4572000"/>
            <a:ext cx="8686800" cy="402336"/>
          </a:xfrm>
          <a:prstGeom prst="rect">
            <a:avLst/>
          </a:prstGeom>
          <a:solidFill>
            <a:srgbClr val="F4A261">
              <a:alpha val="70000"/>
            </a:srgbClr>
          </a:solidFill>
          <a:ln w="12700">
            <a:solidFill>
              <a:srgbClr val="F4A261"/>
            </a:solidFill>
            <a:prstDash val="solid"/>
          </a:ln>
        </p:spPr>
        <p:txBody>
          <a:bodyPr/>
          <a:lstStyle/>
          <a:p>
            <a:endParaRPr lang="en-GH"/>
          </a:p>
        </p:txBody>
      </p:sp>
      <p:sp>
        <p:nvSpPr>
          <p:cNvPr id="21" name="Text 19"/>
          <p:cNvSpPr/>
          <p:nvPr/>
        </p:nvSpPr>
        <p:spPr>
          <a:xfrm>
            <a:off x="347472" y="4599432"/>
            <a:ext cx="8321040" cy="347472"/>
          </a:xfrm>
          <a:prstGeom prst="rect">
            <a:avLst/>
          </a:prstGeom>
          <a:noFill/>
          <a:ln/>
        </p:spPr>
        <p:txBody>
          <a:bodyPr wrap="square" lIns="0" tIns="0" rIns="0" bIns="0" rtlCol="0" anchor="ctr"/>
          <a:lstStyle/>
          <a:p>
            <a:pPr marL="0" indent="0">
              <a:buNone/>
            </a:pPr>
            <a:r>
              <a:rPr lang="en-US" sz="1100" i="1" dirty="0">
                <a:solidFill>
                  <a:srgbClr val="0D1B2A"/>
                </a:solidFill>
                <a:latin typeface="Calibri" pitchFamily="34" charset="0"/>
                <a:ea typeface="Calibri" pitchFamily="34" charset="-122"/>
                <a:cs typeface="Calibri" pitchFamily="34" charset="-120"/>
              </a:rPr>
              <a:t>💡  Tip: Think about the difference between parallelizable tasks (e.g., video rendering) and inherently sequential tasks (e.g., a single-threaded program).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6D2E46"/>
          </a:solidFill>
          <a:ln w="12700">
            <a:solidFill>
              <a:srgbClr val="6D2E46"/>
            </a:solidFill>
            <a:prstDash val="solid"/>
          </a:ln>
        </p:spPr>
        <p:txBody>
          <a:bodyPr/>
          <a:lstStyle/>
          <a:p>
            <a:endParaRPr lang="en-GH"/>
          </a:p>
        </p:txBody>
      </p:sp>
      <p:sp>
        <p:nvSpPr>
          <p:cNvPr id="3" name="Text 1"/>
          <p:cNvSpPr/>
          <p:nvPr/>
        </p:nvSpPr>
        <p:spPr>
          <a:xfrm>
            <a:off x="365760" y="164592"/>
            <a:ext cx="8229600" cy="384048"/>
          </a:xfrm>
          <a:prstGeom prst="rect">
            <a:avLst/>
          </a:prstGeom>
          <a:noFill/>
          <a:ln/>
        </p:spPr>
        <p:txBody>
          <a:bodyPr wrap="square" lIns="0" tIns="0" rIns="0" bIns="0" rtlCol="0" anchor="ctr"/>
          <a:lstStyle/>
          <a:p>
            <a:pPr marL="0" indent="0">
              <a:buNone/>
            </a:pPr>
            <a:r>
              <a:rPr lang="en-US" sz="1300" b="1" kern="0" spc="500" dirty="0">
                <a:solidFill>
                  <a:srgbClr val="0D1B2A"/>
                </a:solidFill>
              </a:rPr>
              <a:t>TASK 5</a:t>
            </a:r>
            <a:endParaRPr lang="en-US" sz="1300" dirty="0"/>
          </a:p>
        </p:txBody>
      </p:sp>
      <p:sp>
        <p:nvSpPr>
          <p:cNvPr id="4" name="Text 2"/>
          <p:cNvSpPr/>
          <p:nvPr/>
        </p:nvSpPr>
        <p:spPr>
          <a:xfrm>
            <a:off x="365760" y="512064"/>
            <a:ext cx="8321040" cy="658368"/>
          </a:xfrm>
          <a:prstGeom prst="rect">
            <a:avLst/>
          </a:prstGeom>
          <a:noFill/>
          <a:ln/>
        </p:spPr>
        <p:txBody>
          <a:bodyPr wrap="square" lIns="0" tIns="0" rIns="0" bIns="0" rtlCol="0" anchor="ctr"/>
          <a:lstStyle/>
          <a:p>
            <a:pPr marL="0" indent="0">
              <a:buNone/>
            </a:pPr>
            <a:r>
              <a:rPr lang="en-US" sz="3000" b="1" dirty="0">
                <a:solidFill>
                  <a:srgbClr val="0D1B2A"/>
                </a:solidFill>
                <a:latin typeface="Calibri" pitchFamily="34" charset="0"/>
                <a:ea typeface="Calibri" pitchFamily="34" charset="-122"/>
                <a:cs typeface="Calibri" pitchFamily="34" charset="-120"/>
              </a:rPr>
              <a:t>Benchmarking &amp; Performance Measurement</a:t>
            </a:r>
            <a:endParaRPr lang="en-US" sz="3000" dirty="0"/>
          </a:p>
        </p:txBody>
      </p:sp>
      <p:sp>
        <p:nvSpPr>
          <p:cNvPr id="5" name="Text 3"/>
          <p:cNvSpPr/>
          <p:nvPr/>
        </p:nvSpPr>
        <p:spPr>
          <a:xfrm>
            <a:off x="365760" y="1463040"/>
            <a:ext cx="8412480" cy="822960"/>
          </a:xfrm>
          <a:prstGeom prst="rect">
            <a:avLst/>
          </a:prstGeom>
          <a:noFill/>
          <a:ln/>
        </p:spPr>
        <p:txBody>
          <a:bodyPr wrap="square" rtlCol="0" anchor="ctr"/>
          <a:lstStyle/>
          <a:p>
            <a:pPr marL="0" indent="0">
              <a:buNone/>
            </a:pPr>
            <a:r>
              <a:rPr lang="en-US" sz="1600" i="1" dirty="0">
                <a:solidFill>
                  <a:srgbClr val="E8F4F8"/>
                </a:solidFill>
                <a:latin typeface="Calibri" pitchFamily="34" charset="0"/>
                <a:ea typeface="Calibri" pitchFamily="34" charset="-122"/>
                <a:cs typeface="Calibri" pitchFamily="34" charset="-120"/>
              </a:rPr>
              <a:t>Measuring performance fairly is harder than it sounds — the math matters.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0F4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E46"/>
          </a:solidFill>
          <a:ln w="12700">
            <a:solidFill>
              <a:srgbClr val="6D2E46"/>
            </a:solidFill>
            <a:prstDash val="solid"/>
          </a:ln>
        </p:spPr>
        <p:txBody>
          <a:bodyPr/>
          <a:lstStyle/>
          <a:p>
            <a:endParaRPr lang="en-GH"/>
          </a:p>
        </p:txBody>
      </p:sp>
      <p:sp>
        <p:nvSpPr>
          <p:cNvPr id="3" name="Text 1"/>
          <p:cNvSpPr/>
          <p:nvPr/>
        </p:nvSpPr>
        <p:spPr>
          <a:xfrm>
            <a:off x="274320" y="128016"/>
            <a:ext cx="8412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TASK 5  •  Benchmarks, SPEC &amp; Calculating Means</a:t>
            </a:r>
            <a:endParaRPr lang="en-US" sz="1400" dirty="0"/>
          </a:p>
        </p:txBody>
      </p:sp>
      <p:sp>
        <p:nvSpPr>
          <p:cNvPr id="4" name="Shape 2"/>
          <p:cNvSpPr/>
          <p:nvPr/>
        </p:nvSpPr>
        <p:spPr>
          <a:xfrm>
            <a:off x="228600" y="804672"/>
            <a:ext cx="8686800" cy="845820"/>
          </a:xfrm>
          <a:prstGeom prst="rect">
            <a:avLst/>
          </a:prstGeom>
          <a:solidFill>
            <a:srgbClr val="FFFFFF"/>
          </a:solidFill>
          <a:ln w="9525">
            <a:solidFill>
              <a:srgbClr val="6D2E46"/>
            </a:solidFill>
            <a:prstDash val="solid"/>
          </a:ln>
          <a:effectLst>
            <a:outerShdw blurRad="101600" dist="38100" dir="8100000" algn="bl" rotWithShape="0">
              <a:srgbClr val="000000">
                <a:alpha val="18000"/>
              </a:srgbClr>
            </a:outerShdw>
          </a:effectLst>
        </p:spPr>
        <p:txBody>
          <a:bodyPr/>
          <a:lstStyle/>
          <a:p>
            <a:endParaRPr lang="en-GH"/>
          </a:p>
        </p:txBody>
      </p:sp>
      <p:sp>
        <p:nvSpPr>
          <p:cNvPr id="5" name="Shape 3"/>
          <p:cNvSpPr/>
          <p:nvPr/>
        </p:nvSpPr>
        <p:spPr>
          <a:xfrm>
            <a:off x="292608" y="1026414"/>
            <a:ext cx="402336" cy="402336"/>
          </a:xfrm>
          <a:prstGeom prst="ellipse">
            <a:avLst/>
          </a:prstGeom>
          <a:solidFill>
            <a:srgbClr val="6D2E46"/>
          </a:solidFill>
          <a:ln w="12700">
            <a:solidFill>
              <a:srgbClr val="6D2E46"/>
            </a:solidFill>
            <a:prstDash val="solid"/>
          </a:ln>
        </p:spPr>
        <p:txBody>
          <a:bodyPr/>
          <a:lstStyle/>
          <a:p>
            <a:endParaRPr lang="en-GH"/>
          </a:p>
        </p:txBody>
      </p:sp>
      <p:sp>
        <p:nvSpPr>
          <p:cNvPr id="6" name="Text 4"/>
          <p:cNvSpPr/>
          <p:nvPr/>
        </p:nvSpPr>
        <p:spPr>
          <a:xfrm>
            <a:off x="292608" y="102641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786384" y="85953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Using Table 2.2 data: Computer A runs Program 1 in 2.0s and Program 2 in 0.75s. Computer B runs them in 1.0s and 2.0s. Which computer is faster overall? Confirm using (a) total execution time, (b) Harmonic Mean of MFLOPS rates. Show ALL calculations. Why does AM of rates give a misleading answer here?</a:t>
            </a:r>
            <a:endParaRPr lang="en-US" sz="1250" dirty="0"/>
          </a:p>
        </p:txBody>
      </p:sp>
      <p:sp>
        <p:nvSpPr>
          <p:cNvPr id="8" name="Shape 6"/>
          <p:cNvSpPr/>
          <p:nvPr/>
        </p:nvSpPr>
        <p:spPr>
          <a:xfrm>
            <a:off x="228600" y="1741932"/>
            <a:ext cx="8686800" cy="845820"/>
          </a:xfrm>
          <a:prstGeom prst="rect">
            <a:avLst/>
          </a:prstGeom>
          <a:solidFill>
            <a:srgbClr val="FFFFFF"/>
          </a:solidFill>
          <a:ln w="9525">
            <a:solidFill>
              <a:srgbClr val="6D2E46"/>
            </a:solidFill>
            <a:prstDash val="solid"/>
          </a:ln>
          <a:effectLst>
            <a:outerShdw blurRad="101600" dist="38100" dir="8100000" algn="bl" rotWithShape="0">
              <a:srgbClr val="000000">
                <a:alpha val="18000"/>
              </a:srgbClr>
            </a:outerShdw>
          </a:effectLst>
        </p:spPr>
        <p:txBody>
          <a:bodyPr/>
          <a:lstStyle/>
          <a:p>
            <a:endParaRPr lang="en-GH"/>
          </a:p>
        </p:txBody>
      </p:sp>
      <p:sp>
        <p:nvSpPr>
          <p:cNvPr id="9" name="Shape 7"/>
          <p:cNvSpPr/>
          <p:nvPr/>
        </p:nvSpPr>
        <p:spPr>
          <a:xfrm>
            <a:off x="292608" y="1963674"/>
            <a:ext cx="402336" cy="402336"/>
          </a:xfrm>
          <a:prstGeom prst="ellipse">
            <a:avLst/>
          </a:prstGeom>
          <a:solidFill>
            <a:srgbClr val="6D2E46"/>
          </a:solidFill>
          <a:ln w="12700">
            <a:solidFill>
              <a:srgbClr val="6D2E46"/>
            </a:solidFill>
            <a:prstDash val="solid"/>
          </a:ln>
        </p:spPr>
        <p:txBody>
          <a:bodyPr/>
          <a:lstStyle/>
          <a:p>
            <a:endParaRPr lang="en-GH"/>
          </a:p>
        </p:txBody>
      </p:sp>
      <p:sp>
        <p:nvSpPr>
          <p:cNvPr id="10" name="Text 8"/>
          <p:cNvSpPr/>
          <p:nvPr/>
        </p:nvSpPr>
        <p:spPr>
          <a:xfrm>
            <a:off x="292608" y="196367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Text 9"/>
          <p:cNvSpPr/>
          <p:nvPr/>
        </p:nvSpPr>
        <p:spPr>
          <a:xfrm>
            <a:off x="786384" y="179679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Explain the difference between SPEC SPECspeed and SPECrate metrics. Give a scenario where a business would care more about SPECrate than SPECspeed.</a:t>
            </a:r>
            <a:endParaRPr lang="en-US" sz="1250" dirty="0"/>
          </a:p>
        </p:txBody>
      </p:sp>
      <p:sp>
        <p:nvSpPr>
          <p:cNvPr id="12" name="Shape 10"/>
          <p:cNvSpPr/>
          <p:nvPr/>
        </p:nvSpPr>
        <p:spPr>
          <a:xfrm>
            <a:off x="228600" y="2679192"/>
            <a:ext cx="8686800" cy="845820"/>
          </a:xfrm>
          <a:prstGeom prst="rect">
            <a:avLst/>
          </a:prstGeom>
          <a:solidFill>
            <a:srgbClr val="FFFFFF"/>
          </a:solidFill>
          <a:ln w="9525">
            <a:solidFill>
              <a:srgbClr val="6D2E46"/>
            </a:solidFill>
            <a:prstDash val="solid"/>
          </a:ln>
          <a:effectLst>
            <a:outerShdw blurRad="101600" dist="38100" dir="8100000" algn="bl" rotWithShape="0">
              <a:srgbClr val="000000">
                <a:alpha val="18000"/>
              </a:srgbClr>
            </a:outerShdw>
          </a:effectLst>
        </p:spPr>
        <p:txBody>
          <a:bodyPr/>
          <a:lstStyle/>
          <a:p>
            <a:endParaRPr lang="en-GH"/>
          </a:p>
        </p:txBody>
      </p:sp>
      <p:sp>
        <p:nvSpPr>
          <p:cNvPr id="13" name="Shape 11"/>
          <p:cNvSpPr/>
          <p:nvPr/>
        </p:nvSpPr>
        <p:spPr>
          <a:xfrm>
            <a:off x="292608" y="2900934"/>
            <a:ext cx="402336" cy="402336"/>
          </a:xfrm>
          <a:prstGeom prst="ellipse">
            <a:avLst/>
          </a:prstGeom>
          <a:solidFill>
            <a:srgbClr val="6D2E46"/>
          </a:solidFill>
          <a:ln w="12700">
            <a:solidFill>
              <a:srgbClr val="6D2E46"/>
            </a:solidFill>
            <a:prstDash val="solid"/>
          </a:ln>
        </p:spPr>
        <p:txBody>
          <a:bodyPr/>
          <a:lstStyle/>
          <a:p>
            <a:endParaRPr lang="en-GH"/>
          </a:p>
        </p:txBody>
      </p:sp>
      <p:sp>
        <p:nvSpPr>
          <p:cNvPr id="14" name="Text 12"/>
          <p:cNvSpPr/>
          <p:nvPr/>
        </p:nvSpPr>
        <p:spPr>
          <a:xfrm>
            <a:off x="292608" y="290093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5" name="Text 13"/>
          <p:cNvSpPr/>
          <p:nvPr/>
        </p:nvSpPr>
        <p:spPr>
          <a:xfrm>
            <a:off x="786384" y="273405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What is the Geometric Mean and why is it preferred over Arithmetic Mean when comparing NORMALIZED benchmark results? Use Table 2.3 to support your explanation — show what happens when you switch the normalization reference from Computer A to Computer B.</a:t>
            </a:r>
            <a:endParaRPr lang="en-US" sz="1250" dirty="0"/>
          </a:p>
        </p:txBody>
      </p:sp>
      <p:sp>
        <p:nvSpPr>
          <p:cNvPr id="16" name="Shape 14"/>
          <p:cNvSpPr/>
          <p:nvPr/>
        </p:nvSpPr>
        <p:spPr>
          <a:xfrm>
            <a:off x="228600" y="3616452"/>
            <a:ext cx="8686800" cy="845820"/>
          </a:xfrm>
          <a:prstGeom prst="rect">
            <a:avLst/>
          </a:prstGeom>
          <a:solidFill>
            <a:srgbClr val="FFFFFF"/>
          </a:solidFill>
          <a:ln w="9525">
            <a:solidFill>
              <a:srgbClr val="6D2E46"/>
            </a:solidFill>
            <a:prstDash val="solid"/>
          </a:ln>
          <a:effectLst>
            <a:outerShdw blurRad="101600" dist="38100" dir="8100000" algn="bl" rotWithShape="0">
              <a:srgbClr val="000000">
                <a:alpha val="18000"/>
              </a:srgbClr>
            </a:outerShdw>
          </a:effectLst>
        </p:spPr>
        <p:txBody>
          <a:bodyPr/>
          <a:lstStyle/>
          <a:p>
            <a:endParaRPr lang="en-GH"/>
          </a:p>
        </p:txBody>
      </p:sp>
      <p:sp>
        <p:nvSpPr>
          <p:cNvPr id="17" name="Shape 15"/>
          <p:cNvSpPr/>
          <p:nvPr/>
        </p:nvSpPr>
        <p:spPr>
          <a:xfrm>
            <a:off x="292608" y="3838194"/>
            <a:ext cx="402336" cy="402336"/>
          </a:xfrm>
          <a:prstGeom prst="ellipse">
            <a:avLst/>
          </a:prstGeom>
          <a:solidFill>
            <a:srgbClr val="6D2E46"/>
          </a:solidFill>
          <a:ln w="12700">
            <a:solidFill>
              <a:srgbClr val="6D2E46"/>
            </a:solidFill>
            <a:prstDash val="solid"/>
          </a:ln>
        </p:spPr>
        <p:txBody>
          <a:bodyPr/>
          <a:lstStyle/>
          <a:p>
            <a:endParaRPr lang="en-GH"/>
          </a:p>
        </p:txBody>
      </p:sp>
      <p:sp>
        <p:nvSpPr>
          <p:cNvPr id="18" name="Text 16"/>
          <p:cNvSpPr/>
          <p:nvPr/>
        </p:nvSpPr>
        <p:spPr>
          <a:xfrm>
            <a:off x="292608" y="383819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9" name="Text 17"/>
          <p:cNvSpPr/>
          <p:nvPr/>
        </p:nvSpPr>
        <p:spPr>
          <a:xfrm>
            <a:off x="786384" y="3671316"/>
            <a:ext cx="7955280" cy="736092"/>
          </a:xfrm>
          <a:prstGeom prst="rect">
            <a:avLst/>
          </a:prstGeom>
          <a:noFill/>
          <a:ln/>
        </p:spPr>
        <p:txBody>
          <a:bodyPr wrap="square" lIns="0" tIns="0" rIns="0" bIns="0" rtlCol="0" anchor="ctr"/>
          <a:lstStyle/>
          <a:p>
            <a:pPr marL="0" indent="0">
              <a:buNone/>
            </a:pPr>
            <a:r>
              <a:rPr lang="en-US" sz="1250" dirty="0">
                <a:solidFill>
                  <a:srgbClr val="0D1B2A"/>
                </a:solidFill>
                <a:latin typeface="Calibri" pitchFamily="34" charset="0"/>
                <a:ea typeface="Calibri" pitchFamily="34" charset="-122"/>
                <a:cs typeface="Calibri" pitchFamily="34" charset="-120"/>
              </a:rPr>
              <a:t>Design challenge: Your team must select a computer for a university's AI research lab (heavy floating-point matrix operations, running 24/7 with 50 concurrent users). Which SPEC CPU2017 metric(s) would you prioritize and why? List at least three benchmarks from Table 2.5(B) that are most relevant and justify each choice.</a:t>
            </a:r>
            <a:endParaRPr lang="en-US" sz="1250" dirty="0"/>
          </a:p>
        </p:txBody>
      </p:sp>
      <p:sp>
        <p:nvSpPr>
          <p:cNvPr id="20" name="Shape 18"/>
          <p:cNvSpPr/>
          <p:nvPr/>
        </p:nvSpPr>
        <p:spPr>
          <a:xfrm>
            <a:off x="228600" y="4572000"/>
            <a:ext cx="8686800" cy="402336"/>
          </a:xfrm>
          <a:prstGeom prst="rect">
            <a:avLst/>
          </a:prstGeom>
          <a:solidFill>
            <a:srgbClr val="F4A261">
              <a:alpha val="70000"/>
            </a:srgbClr>
          </a:solidFill>
          <a:ln w="12700">
            <a:solidFill>
              <a:srgbClr val="F4A261"/>
            </a:solidFill>
            <a:prstDash val="solid"/>
          </a:ln>
        </p:spPr>
        <p:txBody>
          <a:bodyPr/>
          <a:lstStyle/>
          <a:p>
            <a:endParaRPr lang="en-GH"/>
          </a:p>
        </p:txBody>
      </p:sp>
      <p:sp>
        <p:nvSpPr>
          <p:cNvPr id="21" name="Text 19"/>
          <p:cNvSpPr/>
          <p:nvPr/>
        </p:nvSpPr>
        <p:spPr>
          <a:xfrm>
            <a:off x="347472" y="4599432"/>
            <a:ext cx="8321040" cy="347472"/>
          </a:xfrm>
          <a:prstGeom prst="rect">
            <a:avLst/>
          </a:prstGeom>
          <a:noFill/>
          <a:ln/>
        </p:spPr>
        <p:txBody>
          <a:bodyPr wrap="square" lIns="0" tIns="0" rIns="0" bIns="0" rtlCol="0" anchor="ctr"/>
          <a:lstStyle/>
          <a:p>
            <a:pPr marL="0" indent="0">
              <a:buNone/>
            </a:pPr>
            <a:r>
              <a:rPr lang="en-US" sz="1100" i="1" dirty="0">
                <a:solidFill>
                  <a:srgbClr val="0D1B2A"/>
                </a:solidFill>
                <a:latin typeface="Calibri" pitchFamily="34" charset="0"/>
                <a:ea typeface="Calibri" pitchFamily="34" charset="-122"/>
                <a:cs typeface="Calibri" pitchFamily="34" charset="-120"/>
              </a:rPr>
              <a:t>💡  Tip: Little's Law: L = λW. For benchmarking, always ask: 'Does this metric reflect my actual workload?'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E7C86"/>
          </a:solidFill>
          <a:ln w="12700">
            <a:solidFill>
              <a:srgbClr val="0E7C86"/>
            </a:solidFill>
            <a:prstDash val="solid"/>
          </a:ln>
        </p:spPr>
        <p:txBody>
          <a:bodyPr/>
          <a:lstStyle/>
          <a:p>
            <a:endParaRPr lang="en-GH"/>
          </a:p>
        </p:txBody>
      </p:sp>
      <p:sp>
        <p:nvSpPr>
          <p:cNvPr id="3" name="Text 1"/>
          <p:cNvSpPr/>
          <p:nvPr/>
        </p:nvSpPr>
        <p:spPr>
          <a:xfrm>
            <a:off x="274320" y="182880"/>
            <a:ext cx="8412480" cy="548640"/>
          </a:xfrm>
          <a:prstGeom prst="rect">
            <a:avLst/>
          </a:prstGeom>
          <a:noFill/>
          <a:ln/>
        </p:spPr>
        <p:txBody>
          <a:bodyPr wrap="square" lIns="0" tIns="0" rIns="0" bIns="0" rtlCol="0" anchor="ctr"/>
          <a:lstStyle/>
          <a:p>
            <a:pPr marL="0" indent="0">
              <a:buNone/>
            </a:pPr>
            <a:r>
              <a:rPr lang="en-US" sz="2000" b="1" kern="0" spc="300" dirty="0">
                <a:solidFill>
                  <a:srgbClr val="0D1B2A"/>
                </a:solidFill>
              </a:rPr>
              <a:t>DELIVERABLES &amp; GRADING RUBRIC</a:t>
            </a:r>
            <a:endParaRPr lang="en-US" sz="2000" dirty="0"/>
          </a:p>
        </p:txBody>
      </p:sp>
      <p:sp>
        <p:nvSpPr>
          <p:cNvPr id="4" name="Shape 2"/>
          <p:cNvSpPr/>
          <p:nvPr/>
        </p:nvSpPr>
        <p:spPr>
          <a:xfrm>
            <a:off x="228600" y="1005840"/>
            <a:ext cx="2880360" cy="438912"/>
          </a:xfrm>
          <a:prstGeom prst="rect">
            <a:avLst/>
          </a:prstGeom>
          <a:solidFill>
            <a:srgbClr val="0E7C86"/>
          </a:solidFill>
          <a:ln w="12700">
            <a:solidFill>
              <a:srgbClr val="0E7C86"/>
            </a:solidFill>
            <a:prstDash val="solid"/>
          </a:ln>
        </p:spPr>
        <p:txBody>
          <a:bodyPr/>
          <a:lstStyle/>
          <a:p>
            <a:endParaRPr lang="en-GH"/>
          </a:p>
        </p:txBody>
      </p:sp>
      <p:sp>
        <p:nvSpPr>
          <p:cNvPr id="5" name="Text 3"/>
          <p:cNvSpPr/>
          <p:nvPr/>
        </p:nvSpPr>
        <p:spPr>
          <a:xfrm>
            <a:off x="301752" y="1069848"/>
            <a:ext cx="2743200" cy="310896"/>
          </a:xfrm>
          <a:prstGeom prst="rect">
            <a:avLst/>
          </a:prstGeom>
          <a:noFill/>
          <a:ln/>
        </p:spPr>
        <p:txBody>
          <a:bodyPr wrap="square" lIns="0" tIns="0" rIns="0" bIns="0" rtlCol="0" anchor="ctr"/>
          <a:lstStyle/>
          <a:p>
            <a:pPr marL="0" indent="0">
              <a:buNone/>
            </a:pPr>
            <a:r>
              <a:rPr lang="en-US" sz="1300" b="1" dirty="0">
                <a:solidFill>
                  <a:srgbClr val="0D1B2A"/>
                </a:solidFill>
              </a:rPr>
              <a:t>Written Report</a:t>
            </a:r>
            <a:endParaRPr lang="en-US" sz="1300" dirty="0"/>
          </a:p>
        </p:txBody>
      </p:sp>
      <p:sp>
        <p:nvSpPr>
          <p:cNvPr id="6" name="Shape 4"/>
          <p:cNvSpPr/>
          <p:nvPr/>
        </p:nvSpPr>
        <p:spPr>
          <a:xfrm>
            <a:off x="228600" y="1444752"/>
            <a:ext cx="2880360" cy="3401568"/>
          </a:xfrm>
          <a:prstGeom prst="rect">
            <a:avLst/>
          </a:prstGeom>
          <a:solidFill>
            <a:srgbClr val="085D64">
              <a:alpha val="30000"/>
            </a:srgbClr>
          </a:solidFill>
          <a:ln w="9525">
            <a:solidFill>
              <a:srgbClr val="0E7C86"/>
            </a:solidFill>
            <a:prstDash val="solid"/>
          </a:ln>
        </p:spPr>
        <p:txBody>
          <a:bodyPr/>
          <a:lstStyle/>
          <a:p>
            <a:endParaRPr lang="en-GH"/>
          </a:p>
        </p:txBody>
      </p:sp>
      <p:sp>
        <p:nvSpPr>
          <p:cNvPr id="7" name="Text 5"/>
          <p:cNvSpPr/>
          <p:nvPr/>
        </p:nvSpPr>
        <p:spPr>
          <a:xfrm>
            <a:off x="338328" y="1517904"/>
            <a:ext cx="2697480" cy="32461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FFFFFF"/>
                </a:solidFill>
              </a:rPr>
              <a:t>All 4 tasks answered in full
</a:t>
            </a:r>
            <a:endParaRPr lang="en-US" sz="1150" dirty="0"/>
          </a:p>
          <a:p>
            <a:pPr marL="342900" indent="-342900">
              <a:spcAft>
                <a:spcPts val="400"/>
              </a:spcAft>
              <a:buSzPct val="100000"/>
              <a:buChar char="•"/>
            </a:pPr>
            <a:r>
              <a:rPr lang="en-US" sz="1150" dirty="0">
                <a:solidFill>
                  <a:srgbClr val="FFFFFF"/>
                </a:solidFill>
              </a:rPr>
              <a:t>Calculations shown step-by-step
</a:t>
            </a:r>
            <a:endParaRPr lang="en-US" sz="1150" dirty="0"/>
          </a:p>
          <a:p>
            <a:pPr marL="342900" indent="-342900">
              <a:spcAft>
                <a:spcPts val="400"/>
              </a:spcAft>
              <a:buSzPct val="100000"/>
              <a:buChar char="•"/>
            </a:pPr>
            <a:r>
              <a:rPr lang="en-US" sz="1150" dirty="0">
                <a:solidFill>
                  <a:srgbClr val="FFFFFF"/>
                </a:solidFill>
              </a:rPr>
              <a:t>Diagrams drawn neatly
</a:t>
            </a:r>
            <a:endParaRPr lang="en-US" sz="1150" dirty="0"/>
          </a:p>
          <a:p>
            <a:pPr marL="342900" indent="-342900">
              <a:spcAft>
                <a:spcPts val="400"/>
              </a:spcAft>
              <a:buSzPct val="100000"/>
              <a:buChar char="•"/>
            </a:pPr>
            <a:r>
              <a:rPr lang="en-US" sz="1150" dirty="0">
                <a:solidFill>
                  <a:srgbClr val="FFFFFF"/>
                </a:solidFill>
              </a:rPr>
              <a:t>Names &amp; student IDs on cover
</a:t>
            </a:r>
            <a:endParaRPr lang="en-US" sz="1150" dirty="0"/>
          </a:p>
          <a:p>
            <a:pPr marL="342900" indent="-342900">
              <a:spcAft>
                <a:spcPts val="400"/>
              </a:spcAft>
              <a:buSzPct val="100000"/>
              <a:buChar char="•"/>
            </a:pPr>
            <a:r>
              <a:rPr lang="en-US" sz="1150" dirty="0">
                <a:solidFill>
                  <a:srgbClr val="FFFFFF"/>
                </a:solidFill>
              </a:rPr>
              <a:t>Max 6 pages (excluding diagrams)</a:t>
            </a:r>
            <a:endParaRPr lang="en-US" sz="1150" dirty="0"/>
          </a:p>
        </p:txBody>
      </p:sp>
      <p:sp>
        <p:nvSpPr>
          <p:cNvPr id="8" name="Shape 6"/>
          <p:cNvSpPr/>
          <p:nvPr/>
        </p:nvSpPr>
        <p:spPr>
          <a:xfrm>
            <a:off x="3200400" y="1005840"/>
            <a:ext cx="2880360" cy="438912"/>
          </a:xfrm>
          <a:prstGeom prst="rect">
            <a:avLst/>
          </a:prstGeom>
          <a:solidFill>
            <a:srgbClr val="2A9D8F"/>
          </a:solidFill>
          <a:ln w="12700">
            <a:solidFill>
              <a:srgbClr val="2A9D8F"/>
            </a:solidFill>
            <a:prstDash val="solid"/>
          </a:ln>
        </p:spPr>
        <p:txBody>
          <a:bodyPr/>
          <a:lstStyle/>
          <a:p>
            <a:endParaRPr lang="en-GH"/>
          </a:p>
        </p:txBody>
      </p:sp>
      <p:sp>
        <p:nvSpPr>
          <p:cNvPr id="9" name="Text 7"/>
          <p:cNvSpPr/>
          <p:nvPr/>
        </p:nvSpPr>
        <p:spPr>
          <a:xfrm>
            <a:off x="3273552" y="1069848"/>
            <a:ext cx="2743200" cy="310896"/>
          </a:xfrm>
          <a:prstGeom prst="rect">
            <a:avLst/>
          </a:prstGeom>
          <a:noFill/>
          <a:ln/>
        </p:spPr>
        <p:txBody>
          <a:bodyPr wrap="square" lIns="0" tIns="0" rIns="0" bIns="0" rtlCol="0" anchor="ctr"/>
          <a:lstStyle/>
          <a:p>
            <a:pPr marL="0" indent="0">
              <a:buNone/>
            </a:pPr>
            <a:r>
              <a:rPr lang="en-US" sz="1300" b="1" dirty="0">
                <a:solidFill>
                  <a:srgbClr val="0D1B2A"/>
                </a:solidFill>
              </a:rPr>
              <a:t>Presentation</a:t>
            </a:r>
            <a:endParaRPr lang="en-US" sz="1300" dirty="0"/>
          </a:p>
        </p:txBody>
      </p:sp>
      <p:sp>
        <p:nvSpPr>
          <p:cNvPr id="10" name="Shape 8"/>
          <p:cNvSpPr/>
          <p:nvPr/>
        </p:nvSpPr>
        <p:spPr>
          <a:xfrm>
            <a:off x="3200400" y="1444752"/>
            <a:ext cx="2880360" cy="3401568"/>
          </a:xfrm>
          <a:prstGeom prst="rect">
            <a:avLst/>
          </a:prstGeom>
          <a:solidFill>
            <a:srgbClr val="085D64">
              <a:alpha val="30000"/>
            </a:srgbClr>
          </a:solidFill>
          <a:ln w="9525">
            <a:solidFill>
              <a:srgbClr val="2A9D8F"/>
            </a:solidFill>
            <a:prstDash val="solid"/>
          </a:ln>
        </p:spPr>
        <p:txBody>
          <a:bodyPr/>
          <a:lstStyle/>
          <a:p>
            <a:endParaRPr lang="en-GH"/>
          </a:p>
        </p:txBody>
      </p:sp>
      <p:sp>
        <p:nvSpPr>
          <p:cNvPr id="11" name="Text 9"/>
          <p:cNvSpPr/>
          <p:nvPr/>
        </p:nvSpPr>
        <p:spPr>
          <a:xfrm>
            <a:off x="3310128" y="1517904"/>
            <a:ext cx="2697480" cy="32461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FFFFFF"/>
                </a:solidFill>
              </a:rPr>
              <a:t>10 minutes max per group
</a:t>
            </a:r>
            <a:endParaRPr lang="en-US" sz="1150" dirty="0"/>
          </a:p>
          <a:p>
            <a:pPr marL="342900" indent="-342900">
              <a:spcAft>
                <a:spcPts val="400"/>
              </a:spcAft>
              <a:buSzPct val="100000"/>
              <a:buChar char="•"/>
            </a:pPr>
            <a:r>
              <a:rPr lang="en-US" sz="1150" dirty="0">
                <a:solidFill>
                  <a:srgbClr val="FFFFFF"/>
                </a:solidFill>
              </a:rPr>
              <a:t>Every member presents ≥ 1 task
</a:t>
            </a:r>
            <a:endParaRPr lang="en-US" sz="1150" dirty="0"/>
          </a:p>
          <a:p>
            <a:pPr marL="342900" indent="-342900">
              <a:spcAft>
                <a:spcPts val="400"/>
              </a:spcAft>
              <a:buSzPct val="100000"/>
              <a:buChar char="•"/>
            </a:pPr>
            <a:r>
              <a:rPr lang="en-US" sz="1150" dirty="0">
                <a:solidFill>
                  <a:srgbClr val="FFFFFF"/>
                </a:solidFill>
              </a:rPr>
              <a:t>Clear explanation of Amdahl's Law results
</a:t>
            </a:r>
            <a:endParaRPr lang="en-US" sz="1150" dirty="0"/>
          </a:p>
          <a:p>
            <a:pPr marL="342900" indent="-342900">
              <a:spcAft>
                <a:spcPts val="400"/>
              </a:spcAft>
              <a:buSzPct val="100000"/>
              <a:buChar char="•"/>
            </a:pPr>
            <a:r>
              <a:rPr lang="en-US" sz="1150" dirty="0">
                <a:solidFill>
                  <a:srgbClr val="FFFFFF"/>
                </a:solidFill>
              </a:rPr>
              <a:t>At least one diagram shown
</a:t>
            </a:r>
            <a:endParaRPr lang="en-US" sz="1150" dirty="0"/>
          </a:p>
          <a:p>
            <a:pPr marL="342900" indent="-342900">
              <a:spcAft>
                <a:spcPts val="400"/>
              </a:spcAft>
              <a:buSzPct val="100000"/>
              <a:buChar char="•"/>
            </a:pPr>
            <a:r>
              <a:rPr lang="en-US" sz="1150" dirty="0">
                <a:solidFill>
                  <a:srgbClr val="FFFFFF"/>
                </a:solidFill>
              </a:rPr>
              <a:t>Q&amp;A readiness from any member</a:t>
            </a:r>
            <a:endParaRPr lang="en-US" sz="1150" dirty="0"/>
          </a:p>
        </p:txBody>
      </p:sp>
      <p:sp>
        <p:nvSpPr>
          <p:cNvPr id="13" name="Text 11"/>
          <p:cNvSpPr/>
          <p:nvPr/>
        </p:nvSpPr>
        <p:spPr>
          <a:xfrm>
            <a:off x="6245352" y="1069848"/>
            <a:ext cx="2743200" cy="310896"/>
          </a:xfrm>
          <a:prstGeom prst="rect">
            <a:avLst/>
          </a:prstGeom>
          <a:noFill/>
          <a:ln/>
        </p:spPr>
        <p:txBody>
          <a:bodyPr wrap="square" lIns="0" tIns="0" rIns="0" bIns="0" rtlCol="0" anchor="ctr"/>
          <a:lstStyle/>
          <a:p>
            <a:pPr marL="0" indent="0">
              <a:buNone/>
            </a:pPr>
            <a:r>
              <a:rPr lang="en-US" sz="1300" b="1" dirty="0">
                <a:solidFill>
                  <a:srgbClr val="0D1B2A"/>
                </a:solidFill>
              </a:rPr>
              <a:t>Grading Criteria</a:t>
            </a:r>
            <a:endParaRPr lang="en-US" sz="1300" dirty="0"/>
          </a:p>
        </p:txBody>
      </p:sp>
      <p:sp>
        <p:nvSpPr>
          <p:cNvPr id="16" name="Shape 14"/>
          <p:cNvSpPr/>
          <p:nvPr/>
        </p:nvSpPr>
        <p:spPr>
          <a:xfrm>
            <a:off x="228600" y="4663440"/>
            <a:ext cx="8686800" cy="347472"/>
          </a:xfrm>
          <a:prstGeom prst="rect">
            <a:avLst/>
          </a:prstGeom>
          <a:solidFill>
            <a:srgbClr val="F4A261">
              <a:alpha val="75000"/>
            </a:srgbClr>
          </a:solidFill>
          <a:ln w="12700">
            <a:solidFill>
              <a:srgbClr val="F4A261"/>
            </a:solidFill>
            <a:prstDash val="solid"/>
          </a:ln>
        </p:spPr>
        <p:txBody>
          <a:bodyPr/>
          <a:lstStyle/>
          <a:p>
            <a:endParaRPr lang="en-GH"/>
          </a:p>
        </p:txBody>
      </p:sp>
      <p:sp>
        <p:nvSpPr>
          <p:cNvPr id="17" name="Text 15"/>
          <p:cNvSpPr/>
          <p:nvPr/>
        </p:nvSpPr>
        <p:spPr>
          <a:xfrm>
            <a:off x="347472" y="4700016"/>
            <a:ext cx="8321040" cy="274320"/>
          </a:xfrm>
          <a:prstGeom prst="rect">
            <a:avLst/>
          </a:prstGeom>
          <a:noFill/>
          <a:ln/>
        </p:spPr>
        <p:txBody>
          <a:bodyPr wrap="square" lIns="0" tIns="0" rIns="0" bIns="0" rtlCol="0" anchor="ctr"/>
          <a:lstStyle/>
          <a:p>
            <a:pPr marL="0" indent="0">
              <a:buNone/>
            </a:pPr>
            <a:r>
              <a:rPr lang="en-US" sz="1050" i="1" dirty="0">
                <a:solidFill>
                  <a:srgbClr val="0D1B2A"/>
                </a:solidFill>
              </a:rPr>
              <a:t>⚡  Pro tip: The best groups go beyond the slides — use the textbook notes, search online, and connect concepts to current technology!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2743200"/>
            <a:ext cx="4572000" cy="4572000"/>
          </a:xfrm>
          <a:prstGeom prst="ellipse">
            <a:avLst/>
          </a:prstGeom>
          <a:solidFill>
            <a:srgbClr val="0E7C86">
              <a:alpha val="15000"/>
            </a:srgbClr>
          </a:solidFill>
          <a:ln w="12700">
            <a:solidFill>
              <a:srgbClr val="0E7C86">
                <a:alpha val="30000"/>
              </a:srgbClr>
            </a:solidFill>
            <a:prstDash val="solid"/>
          </a:ln>
        </p:spPr>
        <p:txBody>
          <a:bodyPr/>
          <a:lstStyle/>
          <a:p>
            <a:endParaRPr lang="en-GH"/>
          </a:p>
        </p:txBody>
      </p:sp>
      <p:sp>
        <p:nvSpPr>
          <p:cNvPr id="3" name="Shape 1"/>
          <p:cNvSpPr/>
          <p:nvPr/>
        </p:nvSpPr>
        <p:spPr>
          <a:xfrm>
            <a:off x="6858000" y="-1371600"/>
            <a:ext cx="4114800" cy="4114800"/>
          </a:xfrm>
          <a:prstGeom prst="ellipse">
            <a:avLst/>
          </a:prstGeom>
          <a:solidFill>
            <a:srgbClr val="F4A261">
              <a:alpha val="12000"/>
            </a:srgbClr>
          </a:solidFill>
          <a:ln w="12700">
            <a:solidFill>
              <a:srgbClr val="F4A261">
                <a:alpha val="25000"/>
              </a:srgbClr>
            </a:solidFill>
            <a:prstDash val="solid"/>
          </a:ln>
        </p:spPr>
        <p:txBody>
          <a:bodyPr/>
          <a:lstStyle/>
          <a:p>
            <a:endParaRPr lang="en-GH"/>
          </a:p>
        </p:txBody>
      </p:sp>
      <p:sp>
        <p:nvSpPr>
          <p:cNvPr id="4" name="Shape 2"/>
          <p:cNvSpPr/>
          <p:nvPr/>
        </p:nvSpPr>
        <p:spPr>
          <a:xfrm>
            <a:off x="1371600" y="1097280"/>
            <a:ext cx="6400800" cy="2926080"/>
          </a:xfrm>
          <a:prstGeom prst="rect">
            <a:avLst/>
          </a:prstGeom>
          <a:solidFill>
            <a:srgbClr val="0E7C86">
              <a:alpha val="15000"/>
            </a:srgbClr>
          </a:solidFill>
          <a:ln w="12700">
            <a:solidFill>
              <a:srgbClr val="0E7C86"/>
            </a:solidFill>
            <a:prstDash val="solid"/>
          </a:ln>
        </p:spPr>
        <p:txBody>
          <a:bodyPr/>
          <a:lstStyle/>
          <a:p>
            <a:endParaRPr lang="en-GH"/>
          </a:p>
        </p:txBody>
      </p:sp>
      <p:sp>
        <p:nvSpPr>
          <p:cNvPr id="5" name="Text 3"/>
          <p:cNvSpPr/>
          <p:nvPr/>
        </p:nvSpPr>
        <p:spPr>
          <a:xfrm>
            <a:off x="1371600" y="1234440"/>
            <a:ext cx="6400800" cy="822960"/>
          </a:xfrm>
          <a:prstGeom prst="rect">
            <a:avLst/>
          </a:prstGeom>
          <a:noFill/>
          <a:ln/>
        </p:spPr>
        <p:txBody>
          <a:bodyPr wrap="square" lIns="0" tIns="0" rIns="0" bIns="0" rtlCol="0" anchor="ctr"/>
          <a:lstStyle/>
          <a:p>
            <a:pPr marL="0" indent="0" algn="ctr">
              <a:buNone/>
            </a:pPr>
            <a:r>
              <a:rPr lang="en-US" sz="4400" b="1" dirty="0">
                <a:solidFill>
                  <a:srgbClr val="F4A261"/>
                </a:solidFill>
                <a:latin typeface="Calibri" pitchFamily="34" charset="0"/>
                <a:ea typeface="Calibri" pitchFamily="34" charset="-122"/>
                <a:cs typeface="Calibri" pitchFamily="34" charset="-120"/>
              </a:rPr>
              <a:t>Good luck!</a:t>
            </a:r>
            <a:endParaRPr lang="en-US" sz="4400" dirty="0"/>
          </a:p>
        </p:txBody>
      </p:sp>
      <p:sp>
        <p:nvSpPr>
          <p:cNvPr id="6" name="Text 4"/>
          <p:cNvSpPr/>
          <p:nvPr/>
        </p:nvSpPr>
        <p:spPr>
          <a:xfrm>
            <a:off x="1371600" y="2103120"/>
            <a:ext cx="6400800" cy="822960"/>
          </a:xfrm>
          <a:prstGeom prst="rect">
            <a:avLst/>
          </a:prstGeom>
          <a:noFill/>
          <a:ln/>
        </p:spPr>
        <p:txBody>
          <a:bodyPr wrap="square" lIns="0" tIns="0" rIns="0" bIns="0" rtlCol="0" anchor="ctr"/>
          <a:lstStyle/>
          <a:p>
            <a:pPr marL="0" indent="0" algn="ctr">
              <a:buNone/>
            </a:pPr>
            <a:r>
              <a:rPr lang="en-US" sz="1500" i="1" dirty="0">
                <a:solidFill>
                  <a:srgbClr val="E8F4F8"/>
                </a:solidFill>
              </a:rPr>
              <a:t>Think deeply, collaborate actively,</a:t>
            </a:r>
            <a:endParaRPr lang="en-US" sz="1500" dirty="0"/>
          </a:p>
          <a:p>
            <a:pPr marL="0" indent="0" algn="ctr">
              <a:buNone/>
            </a:pPr>
            <a:r>
              <a:rPr lang="en-US" sz="1500" i="1" dirty="0">
                <a:solidFill>
                  <a:srgbClr val="E8F4F8"/>
                </a:solidFill>
              </a:rPr>
              <a:t>and let curiosity guide your answers.</a:t>
            </a:r>
            <a:endParaRPr lang="en-US" sz="1500" dirty="0"/>
          </a:p>
        </p:txBody>
      </p:sp>
      <p:sp>
        <p:nvSpPr>
          <p:cNvPr id="7" name="Text 5"/>
          <p:cNvSpPr/>
          <p:nvPr/>
        </p:nvSpPr>
        <p:spPr>
          <a:xfrm>
            <a:off x="1371600" y="3017520"/>
            <a:ext cx="6400800" cy="685800"/>
          </a:xfrm>
          <a:prstGeom prst="rect">
            <a:avLst/>
          </a:prstGeom>
          <a:noFill/>
          <a:ln/>
        </p:spPr>
        <p:txBody>
          <a:bodyPr wrap="square" lIns="0" tIns="0" rIns="0" bIns="0" rtlCol="0" anchor="ctr"/>
          <a:lstStyle/>
          <a:p>
            <a:pPr marL="0" indent="0" algn="ctr">
              <a:buNone/>
            </a:pPr>
            <a:r>
              <a:rPr lang="en-US" sz="1100" i="1" dirty="0">
                <a:solidFill>
                  <a:srgbClr val="8EAFC0"/>
                </a:solidFill>
              </a:rPr>
              <a:t>"The best performance improvement is the transition from a nonworking state to a working state."</a:t>
            </a:r>
            <a:endParaRPr lang="en-US" sz="1100" dirty="0"/>
          </a:p>
          <a:p>
            <a:pPr marL="0" indent="0" algn="ctr">
              <a:buNone/>
            </a:pPr>
            <a:r>
              <a:rPr lang="en-US" sz="1100" i="1" dirty="0">
                <a:solidFill>
                  <a:srgbClr val="8EAFC0"/>
                </a:solidFill>
              </a:rPr>
              <a:t>— John Ousterhout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1060</Words>
  <Application>Microsoft Macintosh PowerPoint</Application>
  <PresentationFormat>On-screen Show (16:9)</PresentationFormat>
  <Paragraphs>94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DCIT 207 Group Work - Session 2</dc:title>
  <dc:subject>PptxGenJS Presentation</dc:subject>
  <dc:creator>PptxGenJS</dc:creator>
  <cp:lastModifiedBy>Acheampong Joseph</cp:lastModifiedBy>
  <cp:revision>2</cp:revision>
  <dcterms:created xsi:type="dcterms:W3CDTF">2026-03-03T09:28:24Z</dcterms:created>
  <dcterms:modified xsi:type="dcterms:W3CDTF">2026-03-03T09:34:49Z</dcterms:modified>
</cp:coreProperties>
</file>